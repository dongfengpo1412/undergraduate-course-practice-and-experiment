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</p:sldIdLst>
  <p:sldSz cx="12192000" cy="6858000"/>
  <p:notesSz cx="6858000" cy="9144000"/>
  <p:embeddedFontLst>
    <p:embeddedFont>
      <p:font typeface="Noto Sans SC" panose="020B0200000000000000" pitchFamily="34" charset="-122"/>
      <p:regular r:id="rId18"/>
      <p:bold r:id="rId19"/>
    </p:embeddedFont>
    <p:embeddedFont>
      <p:font typeface="Cambria Math" panose="02040503050406030204" pitchFamily="18" charset="0"/>
      <p:regular r:id="rId20"/>
    </p:embeddedFont>
    <p:embeddedFont>
      <p:font typeface="DM Sans" pitchFamily="2" charset="0"/>
      <p:regular r:id="rId21"/>
      <p:bold r:id="rId22"/>
      <p:italic r:id="rId23"/>
      <p:boldItalic r:id="rId24"/>
    </p:embeddedFont>
    <p:embeddedFont>
      <p:font typeface="Merriweather" panose="00000500000000000000" pitchFamily="2" charset="0"/>
      <p:regular r:id="rId25"/>
      <p:bold r:id="rId26"/>
      <p:italic r:id="rId27"/>
      <p:boldItalic r:id="rId28"/>
    </p:embeddedFont>
    <p:embeddedFont>
      <p:font typeface="Roboto Mono" panose="00000009000000000000" pitchFamily="49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C1C071D-9CF5-426D-B714-130BF7268251}">
  <a:tblStyle styleId="{8C1C071D-9CF5-426D-B714-130BF726825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3681668"/>
            <a:ext cx="116014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0" u="none" strike="noStrike" cap="none" dirty="0" err="1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模式识别大作业</a:t>
            </a:r>
            <a:r>
              <a:rPr lang="en-US" sz="2400" i="0" u="none" strike="noStrike" cap="none" dirty="0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 3</a:t>
            </a:r>
            <a:endParaRPr sz="2400" dirty="0">
              <a:solidFill>
                <a:schemeClr val="tx1"/>
              </a:solidFill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646717" y="1908775"/>
            <a:ext cx="889856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支持向量机</a:t>
            </a:r>
            <a:r>
              <a:rPr lang="en-US" sz="5400" b="1" i="0" u="none" strike="noStrike" cap="non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 (SVM) </a:t>
            </a:r>
            <a:r>
              <a:rPr lang="en-US" sz="5400" b="1" i="0" u="none" strike="noStrike" cap="non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人脸检测与</a:t>
            </a:r>
            <a:r>
              <a:rPr lang="en-US" sz="5400" b="1" i="0" u="none" strike="noStrike" cap="non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 2D </a:t>
            </a:r>
            <a:r>
              <a:rPr lang="en-US" sz="5400" b="1" i="0" u="none" strike="noStrike" cap="non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分类可视化分析</a:t>
            </a:r>
            <a:endParaRPr sz="5400" b="1" dirty="0">
              <a:solidFill>
                <a:srgbClr val="3B82F6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161900"/>
            <a:ext cx="11049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800" b="0" i="0" u="none" strike="noStrike" cap="non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田峻硕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|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组员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800" b="0" i="0" u="none" strike="noStrike" cap="non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陈政润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zh-CN" altLang="en-US" sz="1800" b="0" i="0" u="none" strike="noStrike" cap="non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刘超然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571501" y="4667960"/>
            <a:ext cx="11049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电子科技大学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 - 2026年春季课程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295275" y="2475390"/>
            <a:ext cx="1160145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800" b="1" i="0" u="none" strike="noStrike" cap="non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核心原理与实施方案</a:t>
            </a:r>
            <a:endParaRPr dirty="0">
              <a:solidFill>
                <a:srgbClr val="3B82F6"/>
              </a:solidFill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2286000" y="3643947"/>
            <a:ext cx="76200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本次大作业重点探索支持向量机在二分类问题中的应用，结合经典工具箱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LIBSVM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进行实际工程实践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398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647700" y="1971567"/>
            <a:ext cx="5815123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支持向量机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(SVM)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的基本思想是寻找一个能够正确划分训练数据集并且</a:t>
            </a:r>
            <a:r>
              <a:rPr lang="en-US" sz="2000" b="1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几何间隔最大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的分离超平面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sz="2000" dirty="0"/>
          </a:p>
        </p:txBody>
      </p:sp>
      <p:sp>
        <p:nvSpPr>
          <p:cNvPr id="104" name="Google Shape;104;p15"/>
          <p:cNvSpPr txBox="1"/>
          <p:nvPr/>
        </p:nvSpPr>
        <p:spPr>
          <a:xfrm>
            <a:off x="1000124" y="3389411"/>
            <a:ext cx="517384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超平面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在特征空间中划分不同类别的界限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sz="2000"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1000125" y="3962697"/>
            <a:ext cx="485775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间隔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两类样本到超平面的最小距离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sz="2000"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1000125" y="4535983"/>
            <a:ext cx="549282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支持向量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离超平面最近的那部分训练样本点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sz="2000" dirty="0"/>
          </a:p>
        </p:txBody>
      </p:sp>
      <p:pic>
        <p:nvPicPr>
          <p:cNvPr id="107" name="Google Shape;10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398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2795" y="3509736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2795" y="408302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2795" y="4656308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00100" y="899664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SVM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核心原理：最大间隔分类</a:t>
            </a:r>
            <a:endParaRPr dirty="0"/>
          </a:p>
        </p:txBody>
      </p:sp>
      <p:sp>
        <p:nvSpPr>
          <p:cNvPr id="112" name="Google Shape;112;p15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23237"/>
            <a:ext cx="11049000" cy="263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726558" y="1838741"/>
            <a:ext cx="10668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原始问题</a:t>
            </a:r>
            <a:r>
              <a:rPr lang="en-US" sz="2400" b="1" i="0" u="none" strike="noStrike" cap="none" dirty="0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2400" i="0" u="none" strike="noStrike" cap="none" dirty="0">
                <a:solidFill>
                  <a:srgbClr val="1E293B"/>
                </a:solidFill>
                <a:latin typeface="+mj-lt"/>
                <a:ea typeface="Roboto Mono"/>
                <a:cs typeface="Roboto Mono"/>
                <a:sym typeface="Roboto Mono"/>
              </a:rPr>
              <a:t>(Primal Problem):</a:t>
            </a:r>
            <a:endParaRPr sz="2400" dirty="0">
              <a:latin typeface="+mj-lt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726558" y="3197971"/>
            <a:ext cx="10668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zh-CN" altLang="en-US" sz="2400" b="1" dirty="0"/>
              <a:t>约束条件</a:t>
            </a:r>
            <a:r>
              <a:rPr lang="zh-CN" altLang="en-US" sz="2400" dirty="0"/>
              <a:t> </a:t>
            </a:r>
            <a:r>
              <a:rPr lang="en-US" altLang="zh-CN" sz="2400" dirty="0"/>
              <a:t>(Subject to):</a:t>
            </a:r>
            <a:endParaRPr sz="2400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762000" y="919311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数学构建：凸二次规划问题</a:t>
            </a:r>
            <a:endParaRPr dirty="0"/>
          </a:p>
        </p:txBody>
      </p:sp>
      <p:sp>
        <p:nvSpPr>
          <p:cNvPr id="125" name="Google Shape;125;p16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88AFF22-1175-65E2-A014-AF90474BB390}"/>
                  </a:ext>
                </a:extLst>
              </p:cNvPr>
              <p:cNvSpPr txBox="1"/>
              <p:nvPr/>
            </p:nvSpPr>
            <p:spPr>
              <a:xfrm>
                <a:off x="3012558" y="2208073"/>
                <a:ext cx="6096000" cy="9640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pl-PL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pl-PL" altLang="zh-CN" sz="2000" dirty="0">
                              <a:latin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r>
                            <a:rPr lang="pl-PL" altLang="zh-CN" sz="2000" i="1" dirty="0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pl-PL" altLang="zh-CN" sz="2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altLang="zh-CN" sz="20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pl-PL" altLang="zh-CN" sz="2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pl-PL" altLang="zh-CN" sz="2000" i="1" dirty="0">
                              <a:latin typeface="Cambria Math" panose="02040503050406030204" pitchFamily="18" charset="0"/>
                            </a:rPr>
                            <m:t>𝜉</m:t>
                          </m:r>
                        </m:lim>
                      </m:limLow>
                      <m:r>
                        <a:rPr lang="pl-PL" altLang="zh-CN" sz="2000" i="1" dirty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pl-PL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l-PL" altLang="zh-CN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pl-PL" altLang="zh-CN" sz="20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pl-PL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pl-PL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l-PL" altLang="zh-CN" sz="2000" i="1" dirty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pl-PL" altLang="zh-CN" sz="20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l-PL" altLang="zh-CN" sz="2000" i="1" dirty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pl-PL" altLang="zh-CN" sz="2000" i="1" dirty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pl-PL" altLang="zh-CN" sz="2000" i="1" dirty="0"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pl-PL" altLang="zh-CN" sz="20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l-PL" altLang="zh-CN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l-PL" altLang="zh-CN" sz="20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l-PL" altLang="zh-CN" sz="2000" i="1" dirty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  <m:e>
                          <m:sSub>
                            <m:sSubPr>
                              <m:ctrlPr>
                                <a:rPr lang="pl-PL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altLang="zh-CN" sz="2000" i="1" dirty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pl-PL" altLang="zh-CN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88AFF22-1175-65E2-A014-AF90474BB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2558" y="2208073"/>
                <a:ext cx="6096000" cy="96404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A33CEB3-BCFB-E63F-FFC5-F775FD6B8003}"/>
                  </a:ext>
                </a:extLst>
              </p:cNvPr>
              <p:cNvSpPr txBox="1"/>
              <p:nvPr/>
            </p:nvSpPr>
            <p:spPr>
              <a:xfrm>
                <a:off x="2977116" y="3672424"/>
                <a:ext cx="61668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altLang="zh-CN" sz="20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sv-SE" altLang="zh-CN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sv-SE" altLang="zh-C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sv-SE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sv-SE" altLang="zh-CN" sz="2000" i="1" dirty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p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sv-SE" altLang="zh-CN" sz="2000" i="1" dirty="0">
                              <a:latin typeface="Cambria Math" panose="02040503050406030204" pitchFamily="18" charset="0"/>
                            </a:rPr>
                            <m:t>𝜙</m:t>
                          </m:r>
                          <m:d>
                            <m:dPr>
                              <m:ctrlPr>
                                <a:rPr lang="sv-SE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sv-SE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sv-SE" altLang="zh-CN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sv-SE" altLang="zh-CN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sv-SE" altLang="zh-CN" sz="2000" i="1" dirty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sv-SE" altLang="zh-CN" sz="20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sv-SE" altLang="zh-CN" sz="2000" i="1" dirty="0" smtClean="0">
                          <a:latin typeface="Cambria Math" panose="02040503050406030204" pitchFamily="18" charset="0"/>
                        </a:rPr>
                        <m:t>≥1 − </m:t>
                      </m:r>
                      <m:sSub>
                        <m:sSubPr>
                          <m:ctrlPr>
                            <a:rPr lang="sv-SE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altLang="zh-CN" sz="2000" i="1" dirty="0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sv-SE" altLang="zh-CN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sv-SE" altLang="zh-CN" sz="20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sv-SE" altLang="zh-CN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altLang="zh-CN" sz="2000" i="1" dirty="0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sv-SE" altLang="zh-CN" sz="200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sv-SE" altLang="zh-CN" sz="2000" i="1" dirty="0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9A33CEB3-BCFB-E63F-FFC5-F775FD6B8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7116" y="3672424"/>
                <a:ext cx="6166884" cy="400110"/>
              </a:xfrm>
              <a:prstGeom prst="rect">
                <a:avLst/>
              </a:prstGeom>
              <a:blipFill>
                <a:blip r:embed="rId6"/>
                <a:stretch>
                  <a:fillRect t="-7576" b="-257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27209E62-54A3-6DD5-3F13-DCF4AD3BD7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500" y="4365233"/>
                <a:ext cx="11049000" cy="24006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核心逻辑：</a:t>
                </a: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引入</a:t>
                </a:r>
                <a:r>
                  <a:rPr kumimoji="0" lang="zh-CN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松弛变量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zh-CN" altLang="zh-CN" sz="1800" b="1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</m:ctrlPr>
                      </m:sSubPr>
                      <m:e>
                        <m:r>
                          <a:rPr kumimoji="0" lang="zh-CN" altLang="zh-CN" sz="1800" b="1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𝝃</m:t>
                        </m:r>
                      </m:e>
                      <m:sub>
                        <m:r>
                          <a:rPr kumimoji="0" lang="zh-CN" altLang="zh-CN" sz="1800" b="1" i="1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Google Sans Text"/>
                          </a:rPr>
                          <m:t>𝒊</m:t>
                        </m:r>
                      </m:sub>
                    </m:sSub>
                  </m:oMath>
                </a14:m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处理线性不可分情况，并通过</a:t>
                </a:r>
                <a:r>
                  <a:rPr kumimoji="0" lang="zh-CN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拉格朗日乘子法</a:t>
                </a: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将其转化为对偶问题 (Dual Problem) 求解。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参数 C</a:t>
                </a:r>
                <a:r>
                  <a:rPr kumimoji="0" lang="en-US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的作用：</a:t>
                </a: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作为</a:t>
                </a:r>
                <a:r>
                  <a:rPr kumimoji="0" lang="zh-CN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惩罚系数 (Penalty Parameter)</a:t>
                </a: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，调节了“最大化间隔”与“分类错误惩罚”之间的权衡：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C 越大：对错分惩罚更重，间隔较窄，易</a:t>
                </a:r>
                <a:r>
                  <a:rPr kumimoji="0" lang="zh-CN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过拟合</a:t>
                </a: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。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en-US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 </a:t>
                </a: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C 越小：对错分更宽容，间隔较宽，易</a:t>
                </a:r>
                <a:r>
                  <a:rPr kumimoji="0" lang="zh-CN" altLang="zh-CN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欠拟合</a:t>
                </a:r>
                <a:r>
                  <a:rPr kumimoji="0" lang="zh-CN" altLang="zh-CN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  <a:ea typeface="Google Sans Text"/>
                  </a:rPr>
                  <a:t>。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zh-CN" altLang="zh-CN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0" name="Rectangle 1">
                <a:extLst>
                  <a:ext uri="{FF2B5EF4-FFF2-40B4-BE49-F238E27FC236}">
                    <a16:creationId xmlns:a16="http://schemas.microsoft.com/office/drawing/2014/main" id="{27209E62-54A3-6DD5-3F13-DCF4AD3BD7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" y="4365233"/>
                <a:ext cx="11049000" cy="2400657"/>
              </a:xfrm>
              <a:prstGeom prst="rect">
                <a:avLst/>
              </a:prstGeom>
              <a:blipFill>
                <a:blip r:embed="rId7"/>
                <a:stretch>
                  <a:fillRect l="-497" r="-44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17427"/>
            <a:ext cx="3492549" cy="3054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02174" y="2517427"/>
            <a:ext cx="3492549" cy="3054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2517427"/>
            <a:ext cx="3492549" cy="305484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884162" y="3371702"/>
            <a:ext cx="2867077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数据预处理</a:t>
            </a:r>
            <a:endParaRPr sz="2500" dirty="0"/>
          </a:p>
        </p:txBody>
      </p:sp>
      <p:sp>
        <p:nvSpPr>
          <p:cNvPr id="135" name="Google Shape;135;p17"/>
          <p:cNvSpPr txBox="1"/>
          <p:nvPr/>
        </p:nvSpPr>
        <p:spPr>
          <a:xfrm>
            <a:off x="952424" y="4074349"/>
            <a:ext cx="273054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将原始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19x19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图像矩阵平铺为特征向量，并转换为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LIBSVM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标准格式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sz="1800" dirty="0"/>
          </a:p>
        </p:txBody>
      </p:sp>
      <p:sp>
        <p:nvSpPr>
          <p:cNvPr id="136" name="Google Shape;136;p17"/>
          <p:cNvSpPr txBox="1"/>
          <p:nvPr/>
        </p:nvSpPr>
        <p:spPr>
          <a:xfrm>
            <a:off x="4662461" y="3371702"/>
            <a:ext cx="2867077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特征缩放</a:t>
            </a:r>
            <a:endParaRPr sz="2500"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4730725" y="4032648"/>
            <a:ext cx="2730549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对所有特征进行归一化处理（通常为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[0,1]），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防止大值属性主导模型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sz="1800"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8440761" y="3371702"/>
            <a:ext cx="2867077" cy="384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参数寻优</a:t>
            </a:r>
            <a:endParaRPr sz="2500"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8509027" y="4032648"/>
            <a:ext cx="273054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RBF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核函数，通过交叉验证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(Cross-validation)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和网格搜索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(Grid Search) </a:t>
            </a:r>
            <a:r>
              <a:rPr lang="en-US" sz="18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寻找最佳</a:t>
            </a:r>
            <a:r>
              <a:rPr lang="en-US" sz="18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C 与 gamma。</a:t>
            </a:r>
            <a:endParaRPr sz="1800" dirty="0"/>
          </a:p>
        </p:txBody>
      </p:sp>
      <p:pic>
        <p:nvPicPr>
          <p:cNvPr id="140" name="Google Shape;140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17588" y="2562077"/>
            <a:ext cx="60007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62551" y="2562077"/>
            <a:ext cx="6667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07525" y="2562077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800100" y="919311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LIBSVM 实施流程：标准操作指南</a:t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398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1000125" y="2215812"/>
            <a:ext cx="48577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数值差异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若某一特征范围是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[0, 1000]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而另一特征是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[0, 1]，SVM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倾向于忽略后者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sz="2000" dirty="0"/>
          </a:p>
        </p:txBody>
      </p:sp>
      <p:sp>
        <p:nvSpPr>
          <p:cNvPr id="152" name="Google Shape;152;p18"/>
          <p:cNvSpPr txBox="1"/>
          <p:nvPr/>
        </p:nvSpPr>
        <p:spPr>
          <a:xfrm>
            <a:off x="1000125" y="3310115"/>
            <a:ext cx="48577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计算加速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统一数值范围可以减少计算内积时的数值波动，提高优化速度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sz="2000" dirty="0"/>
          </a:p>
        </p:txBody>
      </p:sp>
      <p:sp>
        <p:nvSpPr>
          <p:cNvPr id="153" name="Google Shape;153;p18"/>
          <p:cNvSpPr txBox="1"/>
          <p:nvPr/>
        </p:nvSpPr>
        <p:spPr>
          <a:xfrm>
            <a:off x="1000125" y="4404419"/>
            <a:ext cx="4857750" cy="9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一致性</a:t>
            </a:r>
            <a:r>
              <a:rPr lang="en-US" sz="2000" b="1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训练集缩放参数必须保存，并应用于测试集的缩放</a:t>
            </a:r>
            <a:r>
              <a:rPr lang="en-US" sz="2000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sz="2000" dirty="0"/>
          </a:p>
        </p:txBody>
      </p:sp>
      <p:pic>
        <p:nvPicPr>
          <p:cNvPr id="154" name="Google Shape;15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1398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3398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47687" y="34290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51812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800100" y="919311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为何特征缩放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 (Scaling) </a:t>
            </a:r>
            <a:r>
              <a:rPr lang="en-US" sz="330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至关重要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dirty="0"/>
          </a:p>
        </p:txBody>
      </p:sp>
      <p:sp>
        <p:nvSpPr>
          <p:cNvPr id="159" name="Google Shape;159;p18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 b="30995"/>
          <a:stretch>
            <a:fillRect/>
          </a:stretch>
        </p:blipFill>
        <p:spPr>
          <a:xfrm>
            <a:off x="0" y="1422201"/>
            <a:ext cx="12192000" cy="4732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39850"/>
            <a:ext cx="5286375" cy="38100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Google Shape;166;p19"/>
              <p:cNvSpPr txBox="1"/>
              <p:nvPr/>
            </p:nvSpPr>
            <p:spPr>
              <a:xfrm>
                <a:off x="609600" y="1996444"/>
                <a:ext cx="5286375" cy="23083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000" b="1" i="0" u="none" strike="noStrike" cap="none" dirty="0">
                    <a:solidFill>
                      <a:srgbClr val="1E293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RBF </a:t>
                </a:r>
                <a:r>
                  <a:rPr lang="zh-CN" altLang="en-US" sz="2000" b="1" i="0" u="none" strike="noStrike" cap="none" dirty="0">
                    <a:solidFill>
                      <a:srgbClr val="1E293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核函数参数寻优</a:t>
                </a:r>
                <a:r>
                  <a:rPr lang="zh-CN" altLang="en-US" sz="2000" b="0" i="0" u="none" strike="noStrike" cap="none" dirty="0">
                    <a:solidFill>
                      <a:srgbClr val="1E293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：  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0" i="0" u="none" strike="noStrike" cap="none" dirty="0">
                    <a:solidFill>
                      <a:srgbClr val="1E293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为发挥 </a:t>
                </a:r>
                <a:r>
                  <a:rPr lang="en-US" altLang="zh-CN" sz="2000" b="0" i="0" u="none" strike="noStrike" cap="none" dirty="0">
                    <a:solidFill>
                      <a:srgbClr val="1E293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RBF </a:t>
                </a:r>
                <a:r>
                  <a:rPr lang="zh-CN" altLang="en-US" sz="2000" b="0" i="0" u="none" strike="noStrike" cap="none" dirty="0">
                    <a:solidFill>
                      <a:srgbClr val="1E293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核的非线性映射能力，需确定惩罚参数 </a:t>
                </a:r>
                <a:r>
                  <a:rPr lang="en-US" altLang="zh-CN" sz="2000" b="0" i="0" u="none" strike="noStrike" cap="none" dirty="0">
                    <a:solidFill>
                      <a:srgbClr val="1E293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C </a:t>
                </a:r>
                <a:r>
                  <a:rPr lang="zh-CN" altLang="en-US" sz="2000" b="0" i="0" u="none" strike="noStrike" cap="none" dirty="0">
                    <a:solidFill>
                      <a:srgbClr val="1E293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与核参数 </a:t>
                </a:r>
                <a14:m>
                  <m:oMath xmlns:m="http://schemas.openxmlformats.org/officeDocument/2006/math">
                    <m:r>
                      <a:rPr lang="en-US" altLang="zh-CN" sz="2000" b="0" i="1" u="none" strike="noStrike" cap="none" dirty="0" smtClean="0">
                        <a:solidFill>
                          <a:srgbClr val="1E293B"/>
                        </a:solidFill>
                        <a:latin typeface="Cambria Math" panose="02040503050406030204" pitchFamily="18" charset="0"/>
                        <a:ea typeface="Noto Sans SC"/>
                        <a:cs typeface="Noto Sans SC"/>
                        <a:sym typeface="Noto Sans SC"/>
                      </a:rPr>
                      <m:t>𝛾</m:t>
                    </m:r>
                  </m:oMath>
                </a14:m>
                <a:r>
                  <a:rPr lang="zh-CN" altLang="en-US" sz="2000" b="0" i="0" u="none" strike="noStrike" cap="none" dirty="0">
                    <a:solidFill>
                      <a:srgbClr val="1E293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。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000" b="0" i="0" u="none" strike="noStrike" cap="none" dirty="0">
                    <a:solidFill>
                      <a:srgbClr val="1E293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我们在对数空间内进行指数级跨度的网格搜索 </a:t>
                </a:r>
                <a:r>
                  <a:rPr lang="en-US" altLang="zh-CN" sz="2000" b="0" i="0" u="none" strike="noStrike" cap="none" dirty="0">
                    <a:solidFill>
                      <a:srgbClr val="1E293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(Grid Search)</a:t>
                </a:r>
                <a:r>
                  <a:rPr lang="zh-CN" altLang="en-US" sz="2000" b="0" i="0" u="none" strike="noStrike" cap="none" dirty="0">
                    <a:solidFill>
                      <a:srgbClr val="1E293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：</a:t>
                </a:r>
                <a:endParaRPr sz="2000" dirty="0"/>
              </a:p>
            </p:txBody>
          </p:sp>
        </mc:Choice>
        <mc:Fallback>
          <p:sp>
            <p:nvSpPr>
              <p:cNvPr id="166" name="Google Shape;166;p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1996444"/>
                <a:ext cx="5286375" cy="2308324"/>
              </a:xfrm>
              <a:prstGeom prst="rect">
                <a:avLst/>
              </a:prstGeom>
              <a:blipFill>
                <a:blip r:embed="rId5"/>
                <a:stretch>
                  <a:fillRect l="-2884" r="-807" b="-34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9" name="Google Shape;169;p19"/>
          <p:cNvSpPr txBox="1"/>
          <p:nvPr/>
        </p:nvSpPr>
        <p:spPr>
          <a:xfrm>
            <a:off x="800100" y="919311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模型选择：寻找最佳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 (</a:t>
            </a:r>
            <a:r>
              <a:rPr lang="en-US" sz="3300" b="1" u="none" strike="noStrike" cap="non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C, γ</a:t>
            </a:r>
            <a:r>
              <a:rPr lang="en-US" sz="3300" b="1" i="0" u="none" strike="noStrike" cap="non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dirty="0"/>
          </a:p>
        </p:txBody>
      </p:sp>
      <p:sp>
        <p:nvSpPr>
          <p:cNvPr id="170" name="Google Shape;170;p19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6C5CB1-2579-8E89-4295-FAE24271A9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9302" y="1570206"/>
            <a:ext cx="5536019" cy="41520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118066" y="2440992"/>
            <a:ext cx="116014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任务一：人脸</a:t>
            </a:r>
            <a:r>
              <a:rPr lang="en-US" sz="4800" b="1" i="0" u="none" strike="noStrike" cap="non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 or </a:t>
            </a:r>
            <a:r>
              <a:rPr lang="en-US" sz="4800" b="1" i="0" u="none" strike="noStrike" cap="non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非人脸检测</a:t>
            </a:r>
            <a:endParaRPr dirty="0"/>
          </a:p>
        </p:txBody>
      </p:sp>
      <p:sp>
        <p:nvSpPr>
          <p:cNvPr id="178" name="Google Shape;178;p20"/>
          <p:cNvSpPr txBox="1"/>
          <p:nvPr/>
        </p:nvSpPr>
        <p:spPr>
          <a:xfrm>
            <a:off x="2108791" y="3823159"/>
            <a:ext cx="76200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利用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19x19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像素的人脸与背景图像数据集，训练具有高泛化能力的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SVM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识别器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01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6334124" y="4545245"/>
            <a:ext cx="528637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人脸图像样本及对应的</a:t>
            </a:r>
            <a:r>
              <a:rPr lang="en-US" sz="2000" b="0" i="0" u="none" strike="noStrike" cap="non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361 </a:t>
            </a:r>
            <a:r>
              <a:rPr lang="en-US" sz="2000" b="0" i="0" u="none" strike="noStrike" cap="non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维特征表示</a:t>
            </a:r>
            <a:endParaRPr sz="2000" dirty="0"/>
          </a:p>
        </p:txBody>
      </p:sp>
      <p:sp>
        <p:nvSpPr>
          <p:cNvPr id="186" name="Google Shape;186;p21"/>
          <p:cNvSpPr/>
          <p:nvPr/>
        </p:nvSpPr>
        <p:spPr>
          <a:xfrm>
            <a:off x="571500" y="1901725"/>
            <a:ext cx="5286375" cy="320992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21"/>
          <p:cNvGraphicFramePr/>
          <p:nvPr/>
        </p:nvGraphicFramePr>
        <p:xfrm>
          <a:off x="571500" y="1901725"/>
          <a:ext cx="5286375" cy="3209875"/>
        </p:xfrm>
        <a:graphic>
          <a:graphicData uri="http://schemas.openxmlformats.org/drawingml/2006/table">
            <a:tbl>
              <a:tblPr firstRow="1" bandRow="1">
                <a:noFill/>
                <a:tableStyleId>{8C1C071D-9CF5-426D-B714-130BF7268251}</a:tableStyleId>
              </a:tblPr>
              <a:tblGrid>
                <a:gridCol w="201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4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属性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详细说明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样本尺寸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19 x 19 像素 (灰度)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特征维度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361 维 (</a:t>
                      </a:r>
                      <a:r>
                        <a:rPr lang="en-US" sz="1350" b="0" i="0" u="none" strike="noStrike" cap="none" dirty="0" err="1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展开后</a:t>
                      </a: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正样本 (+1)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人脸图像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9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负样本 (-1)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 err="1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非人脸</a:t>
                      </a: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(</a:t>
                      </a:r>
                      <a:r>
                        <a:rPr lang="en-US" sz="1350" b="0" i="0" u="none" strike="noStrike" cap="none" dirty="0" err="1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背景、噪声等</a:t>
                      </a:r>
                      <a:r>
                        <a:rPr lang="en-US" sz="1350" b="0" i="0" u="none" strike="noStrike" cap="none" dirty="0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88" name="Google Shape;18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554213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1"/>
          <p:cNvSpPr/>
          <p:nvPr/>
        </p:nvSpPr>
        <p:spPr>
          <a:xfrm>
            <a:off x="571500" y="3182838"/>
            <a:ext cx="2012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2583805" y="3182838"/>
            <a:ext cx="32740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571500" y="3821013"/>
            <a:ext cx="2012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2583805" y="3821013"/>
            <a:ext cx="32740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571500" y="4459188"/>
            <a:ext cx="2012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2583805" y="4459188"/>
            <a:ext cx="32740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571500" y="5097363"/>
            <a:ext cx="20123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2583805" y="5097363"/>
            <a:ext cx="327406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800100" y="919311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数据集统计与特征提取</a:t>
            </a:r>
            <a:endParaRPr dirty="0"/>
          </a:p>
        </p:txBody>
      </p:sp>
      <p:sp>
        <p:nvSpPr>
          <p:cNvPr id="198" name="Google Shape;198;p21"/>
          <p:cNvSpPr/>
          <p:nvPr/>
        </p:nvSpPr>
        <p:spPr>
          <a:xfrm>
            <a:off x="571500" y="919311"/>
            <a:ext cx="7620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811530" y="463003"/>
            <a:ext cx="4960620" cy="60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3300" b="1" i="0" u="none" strike="noStrike" cap="none" dirty="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实验结果与性能</a:t>
            </a:r>
            <a:endParaRPr dirty="0"/>
          </a:p>
        </p:txBody>
      </p:sp>
      <p:sp>
        <p:nvSpPr>
          <p:cNvPr id="205" name="Google Shape;205;p22"/>
          <p:cNvSpPr/>
          <p:nvPr/>
        </p:nvSpPr>
        <p:spPr>
          <a:xfrm>
            <a:off x="571500" y="516257"/>
            <a:ext cx="7620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8134A9-D779-467B-DC13-8B5A2BE2EF6E}"/>
              </a:ext>
            </a:extLst>
          </p:cNvPr>
          <p:cNvSpPr txBox="1"/>
          <p:nvPr/>
        </p:nvSpPr>
        <p:spPr>
          <a:xfrm>
            <a:off x="571500" y="1179066"/>
            <a:ext cx="6096000" cy="241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zh-CN" altLang="en-US" sz="2400" b="1" i="0" dirty="0">
                <a:solidFill>
                  <a:srgbClr val="3B82F6"/>
                </a:solidFill>
                <a:effectLst/>
                <a:latin typeface="Merriweather" panose="00000500000000000000" pitchFamily="2" charset="0"/>
              </a:rPr>
              <a:t>  </a:t>
            </a:r>
            <a:r>
              <a:rPr lang="zh-CN" altLang="en-US" sz="2000" b="1" i="0" dirty="0">
                <a:solidFill>
                  <a:srgbClr val="3B82F6"/>
                </a:solidFill>
                <a:effectLst/>
                <a:latin typeface="Merriweather" panose="00000500000000000000" pitchFamily="2" charset="0"/>
              </a:rPr>
              <a:t>模型预测详情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sz="2000" b="1" i="0" dirty="0">
                <a:solidFill>
                  <a:srgbClr val="475569"/>
                </a:solidFill>
                <a:effectLst/>
                <a:latin typeface="DM Sans" panose="020F0502020204030204" pitchFamily="2" charset="0"/>
              </a:rPr>
              <a:t> </a:t>
            </a:r>
            <a:r>
              <a:rPr lang="zh-CN" altLang="en-US" sz="1800" b="1" i="0" dirty="0">
                <a:solidFill>
                  <a:srgbClr val="475569"/>
                </a:solidFill>
                <a:effectLst/>
                <a:latin typeface="DM Sans" panose="020F0502020204030204" pitchFamily="2" charset="0"/>
              </a:rPr>
              <a:t>五折交叉验证准确率</a:t>
            </a:r>
            <a:r>
              <a:rPr lang="en-US" altLang="zh-CN" sz="1800" b="1" i="0" dirty="0">
                <a:solidFill>
                  <a:srgbClr val="475569"/>
                </a:solidFill>
                <a:effectLst/>
                <a:latin typeface="DM Sans" panose="020F0502020204030204" pitchFamily="2" charset="0"/>
              </a:rPr>
              <a:t>: 99.62%</a:t>
            </a:r>
            <a:endParaRPr lang="zh-CN" altLang="en-US" sz="1800" b="0" i="0" dirty="0">
              <a:solidFill>
                <a:srgbClr val="475569"/>
              </a:solidFill>
              <a:effectLst/>
              <a:latin typeface="DM Sans" panose="020F0502020204030204" pitchFamily="2" charset="0"/>
            </a:endParaRP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solidFill>
                  <a:srgbClr val="475569"/>
                </a:solidFill>
                <a:effectLst/>
                <a:latin typeface="DM Sans" panose="020F0502020204030204" pitchFamily="2" charset="0"/>
              </a:rPr>
              <a:t> 最优 </a:t>
            </a:r>
            <a:r>
              <a:rPr lang="en-US" altLang="zh-CN" sz="1800" b="0" i="0" dirty="0">
                <a:solidFill>
                  <a:srgbClr val="475569"/>
                </a:solidFill>
                <a:effectLst/>
                <a:latin typeface="DM Sans" panose="020F0502020204030204" pitchFamily="2" charset="0"/>
              </a:rPr>
              <a:t>C = 8.00 | </a:t>
            </a:r>
            <a:r>
              <a:rPr lang="zh-CN" altLang="en-US" sz="1800" b="0" i="0" dirty="0">
                <a:solidFill>
                  <a:srgbClr val="475569"/>
                </a:solidFill>
                <a:effectLst/>
                <a:latin typeface="DM Sans" panose="020F0502020204030204" pitchFamily="2" charset="0"/>
              </a:rPr>
              <a:t>最优 </a:t>
            </a:r>
            <a:r>
              <a:rPr lang="en-US" altLang="zh-CN" sz="1800" b="0" i="0" dirty="0">
                <a:solidFill>
                  <a:srgbClr val="475569"/>
                </a:solidFill>
                <a:effectLst/>
                <a:latin typeface="DM Sans" panose="020F0502020204030204" pitchFamily="2" charset="0"/>
              </a:rPr>
              <a:t>gamma = 0.03125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solidFill>
                  <a:srgbClr val="475569"/>
                </a:solidFill>
                <a:effectLst/>
                <a:latin typeface="DM Sans" panose="020F0502020204030204" pitchFamily="2" charset="0"/>
              </a:rPr>
              <a:t> 测试集人脸预测 </a:t>
            </a:r>
            <a:r>
              <a:rPr lang="en-US" altLang="zh-CN" sz="1800" b="0" i="0" dirty="0">
                <a:solidFill>
                  <a:srgbClr val="475569"/>
                </a:solidFill>
                <a:effectLst/>
                <a:latin typeface="DM Sans" panose="020F0502020204030204" pitchFamily="2" charset="0"/>
              </a:rPr>
              <a:t>(+1): 62 </a:t>
            </a:r>
            <a:r>
              <a:rPr lang="zh-CN" altLang="en-US" sz="1800" b="0" i="0" dirty="0">
                <a:solidFill>
                  <a:srgbClr val="475569"/>
                </a:solidFill>
                <a:effectLst/>
                <a:latin typeface="DM Sans" panose="020F0502020204030204" pitchFamily="2" charset="0"/>
              </a:rPr>
              <a:t>个</a:t>
            </a:r>
          </a:p>
          <a:p>
            <a:pPr algn="l"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solidFill>
                  <a:srgbClr val="475569"/>
                </a:solidFill>
                <a:effectLst/>
                <a:latin typeface="DM Sans" panose="020F0502020204030204" pitchFamily="2" charset="0"/>
              </a:rPr>
              <a:t> 测试集背景预测 </a:t>
            </a:r>
            <a:r>
              <a:rPr lang="en-US" altLang="zh-CN" sz="1800" b="0" i="0" dirty="0">
                <a:solidFill>
                  <a:srgbClr val="475569"/>
                </a:solidFill>
                <a:effectLst/>
                <a:latin typeface="DM Sans" panose="020F0502020204030204" pitchFamily="2" charset="0"/>
              </a:rPr>
              <a:t>(-1): 358 </a:t>
            </a:r>
            <a:r>
              <a:rPr lang="zh-CN" altLang="en-US" sz="1800" b="0" i="0" dirty="0">
                <a:solidFill>
                  <a:srgbClr val="475569"/>
                </a:solidFill>
                <a:effectLst/>
                <a:latin typeface="DM Sans" panose="020F0502020204030204" pitchFamily="2" charset="0"/>
              </a:rPr>
              <a:t>个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2A10667-03BB-3400-873E-24AF3BDCC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0" y="1179066"/>
            <a:ext cx="6405229" cy="480392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F424565-0C10-B46D-9B75-F0DE1CE06A78}"/>
              </a:ext>
            </a:extLst>
          </p:cNvPr>
          <p:cNvSpPr txBox="1"/>
          <p:nvPr/>
        </p:nvSpPr>
        <p:spPr>
          <a:xfrm>
            <a:off x="571500" y="3589982"/>
            <a:ext cx="4953000" cy="267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rgbClr val="3B82F6"/>
                </a:solidFill>
              </a:rPr>
              <a:t>结果评价 </a:t>
            </a:r>
            <a:endParaRPr lang="en-US" altLang="zh-CN" sz="2000" b="1" dirty="0">
              <a:solidFill>
                <a:srgbClr val="3B82F6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/>
              <a:t>判别效能：模型在保持极低假阳性率的同时拥有极高的真阳性率，</a:t>
            </a:r>
            <a:r>
              <a:rPr lang="en-US" altLang="zh-CN" sz="1800" dirty="0"/>
              <a:t>AUC </a:t>
            </a:r>
            <a:r>
              <a:rPr lang="zh-CN" altLang="en-US" sz="1800" dirty="0"/>
              <a:t>接近 </a:t>
            </a:r>
            <a:r>
              <a:rPr lang="en-US" altLang="zh-CN" sz="1800" dirty="0"/>
              <a:t>1.0</a:t>
            </a:r>
            <a:r>
              <a:rPr lang="zh-CN" altLang="en-US" sz="1800" dirty="0"/>
              <a:t>，证明了分类器的卓越性能。  </a:t>
            </a:r>
            <a:endParaRPr lang="en-US" altLang="zh-CN" sz="1800" dirty="0"/>
          </a:p>
          <a:p>
            <a:pPr>
              <a:lnSpc>
                <a:spcPct val="150000"/>
              </a:lnSpc>
            </a:pPr>
            <a:r>
              <a:rPr lang="zh-CN" altLang="en-US" sz="1800" dirty="0"/>
              <a:t>收敛表现：得益于特征缩放，模型在 </a:t>
            </a:r>
            <a:r>
              <a:rPr lang="en-US" altLang="zh-CN" sz="1800" dirty="0"/>
              <a:t>64 </a:t>
            </a:r>
            <a:r>
              <a:rPr lang="zh-CN" altLang="en-US" sz="1800" dirty="0"/>
              <a:t>次迭代内即完成优化，计算效率优异。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295275" y="2552700"/>
            <a:ext cx="1160145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任务二：2D </a:t>
            </a:r>
            <a:r>
              <a:rPr lang="en-US" sz="4800" b="1" i="0" u="none" strike="noStrike" cap="none" dirty="0" err="1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样本分类可视化</a:t>
            </a:r>
            <a:endParaRPr dirty="0"/>
          </a:p>
        </p:txBody>
      </p:sp>
      <p:sp>
        <p:nvSpPr>
          <p:cNvPr id="218" name="Google Shape;218;p23"/>
          <p:cNvSpPr txBox="1"/>
          <p:nvPr/>
        </p:nvSpPr>
        <p:spPr>
          <a:xfrm>
            <a:off x="2286000" y="3957838"/>
            <a:ext cx="76200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通过设计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2D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线性可分与不可分数据集，直观观察支持向量、分类面及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 Margin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随参数的变化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36702C8-56C2-A736-C3C5-C9021F2FCEBD}"/>
              </a:ext>
            </a:extLst>
          </p:cNvPr>
          <p:cNvSpPr txBox="1"/>
          <p:nvPr/>
        </p:nvSpPr>
        <p:spPr>
          <a:xfrm>
            <a:off x="648585" y="1183813"/>
            <a:ext cx="10894829" cy="5029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zh-CN" altLang="en-US" sz="3000" b="1" i="0" dirty="0">
                <a:solidFill>
                  <a:srgbClr val="3B82F6"/>
                </a:solidFill>
                <a:effectLst/>
                <a:latin typeface="Merriweather" panose="00000500000000000000" pitchFamily="2" charset="0"/>
              </a:rPr>
              <a:t>方案 </a:t>
            </a:r>
            <a:r>
              <a:rPr lang="en-US" altLang="zh-CN" sz="3000" b="1" i="0" dirty="0">
                <a:solidFill>
                  <a:srgbClr val="3B82F6"/>
                </a:solidFill>
                <a:effectLst/>
                <a:latin typeface="Merriweather" panose="00000500000000000000" pitchFamily="2" charset="0"/>
              </a:rPr>
              <a:t>A: </a:t>
            </a:r>
            <a:r>
              <a:rPr lang="zh-CN" altLang="en-US" sz="3000" b="1" i="0" dirty="0">
                <a:solidFill>
                  <a:srgbClr val="3B82F6"/>
                </a:solidFill>
                <a:effectLst/>
                <a:latin typeface="Merriweather" panose="00000500000000000000" pitchFamily="2" charset="0"/>
              </a:rPr>
              <a:t>线性核</a:t>
            </a:r>
          </a:p>
          <a:p>
            <a:pPr algn="l">
              <a:lnSpc>
                <a:spcPct val="150000"/>
              </a:lnSpc>
              <a:buNone/>
            </a:pPr>
            <a:r>
              <a:rPr lang="zh-CN" altLang="en-US" sz="2400" b="0" i="0" dirty="0">
                <a:solidFill>
                  <a:srgbClr val="475569"/>
                </a:solidFill>
                <a:effectLst/>
                <a:latin typeface="DM Sans" pitchFamily="2" charset="0"/>
              </a:rPr>
              <a:t>选项</a:t>
            </a:r>
            <a:r>
              <a:rPr lang="en-US" altLang="zh-CN" sz="2400" b="0" i="0" dirty="0">
                <a:solidFill>
                  <a:srgbClr val="475569"/>
                </a:solidFill>
                <a:effectLst/>
                <a:latin typeface="DM Sans" pitchFamily="2" charset="0"/>
              </a:rPr>
              <a:t>: </a:t>
            </a:r>
            <a:r>
              <a:rPr lang="en-US" altLang="zh-CN" sz="2400" b="0" i="0" dirty="0">
                <a:solidFill>
                  <a:srgbClr val="475569"/>
                </a:solidFill>
                <a:effectLst/>
                <a:latin typeface="Courier New" panose="02070309020205020404" pitchFamily="49" charset="0"/>
              </a:rPr>
              <a:t>-t 0 -c 1</a:t>
            </a:r>
            <a:endParaRPr lang="zh-CN" altLang="en-US" sz="2400" b="0" i="0" dirty="0">
              <a:solidFill>
                <a:srgbClr val="475569"/>
              </a:solidFill>
              <a:effectLst/>
              <a:latin typeface="DM Sans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2400" b="0" i="0" dirty="0">
                <a:solidFill>
                  <a:srgbClr val="475569"/>
                </a:solidFill>
                <a:effectLst/>
                <a:latin typeface="DM Sans" pitchFamily="2" charset="0"/>
              </a:rPr>
              <a:t>针对高斯分布产生的线性可分数据集。边界呈直线状。仅需要极少量的支持向量 </a:t>
            </a:r>
            <a:r>
              <a:rPr lang="en-US" altLang="zh-CN" sz="2400" b="0" i="0" dirty="0">
                <a:solidFill>
                  <a:srgbClr val="475569"/>
                </a:solidFill>
                <a:effectLst/>
                <a:latin typeface="DM Sans" pitchFamily="2" charset="0"/>
              </a:rPr>
              <a:t>(SV=3) </a:t>
            </a:r>
            <a:r>
              <a:rPr lang="zh-CN" altLang="en-US" sz="2400" b="0" i="0" dirty="0">
                <a:solidFill>
                  <a:srgbClr val="475569"/>
                </a:solidFill>
                <a:effectLst/>
                <a:latin typeface="DM Sans" pitchFamily="2" charset="0"/>
              </a:rPr>
              <a:t>即可完成划分。</a:t>
            </a:r>
          </a:p>
          <a:p>
            <a:pPr algn="l">
              <a:lnSpc>
                <a:spcPct val="150000"/>
              </a:lnSpc>
              <a:spcAft>
                <a:spcPts val="1125"/>
              </a:spcAft>
              <a:buNone/>
            </a:pPr>
            <a:r>
              <a:rPr lang="zh-CN" altLang="en-US" sz="3000" b="1" i="0" dirty="0">
                <a:solidFill>
                  <a:srgbClr val="3B82F6"/>
                </a:solidFill>
                <a:effectLst/>
                <a:latin typeface="Merriweather" panose="00000500000000000000" pitchFamily="2" charset="0"/>
              </a:rPr>
              <a:t>方案 </a:t>
            </a:r>
            <a:r>
              <a:rPr lang="en-US" altLang="zh-CN" sz="3000" b="1" i="0" dirty="0">
                <a:solidFill>
                  <a:srgbClr val="3B82F6"/>
                </a:solidFill>
                <a:effectLst/>
                <a:latin typeface="Merriweather" panose="00000500000000000000" pitchFamily="2" charset="0"/>
              </a:rPr>
              <a:t>B: RBF </a:t>
            </a:r>
            <a:r>
              <a:rPr lang="zh-CN" altLang="en-US" sz="3000" b="1" i="0" dirty="0">
                <a:solidFill>
                  <a:srgbClr val="3B82F6"/>
                </a:solidFill>
                <a:effectLst/>
                <a:latin typeface="Merriweather" panose="00000500000000000000" pitchFamily="2" charset="0"/>
              </a:rPr>
              <a:t>核</a:t>
            </a:r>
          </a:p>
          <a:p>
            <a:pPr algn="l">
              <a:lnSpc>
                <a:spcPct val="150000"/>
              </a:lnSpc>
              <a:buNone/>
            </a:pPr>
            <a:r>
              <a:rPr lang="zh-CN" altLang="en-US" sz="2400" b="0" i="0" dirty="0">
                <a:solidFill>
                  <a:srgbClr val="475569"/>
                </a:solidFill>
                <a:effectLst/>
                <a:latin typeface="DM Sans" pitchFamily="2" charset="0"/>
              </a:rPr>
              <a:t>选项</a:t>
            </a:r>
            <a:r>
              <a:rPr lang="en-US" altLang="zh-CN" sz="2400" b="0" i="0" dirty="0">
                <a:solidFill>
                  <a:srgbClr val="475569"/>
                </a:solidFill>
                <a:effectLst/>
                <a:latin typeface="DM Sans" pitchFamily="2" charset="0"/>
              </a:rPr>
              <a:t>: </a:t>
            </a:r>
            <a:r>
              <a:rPr lang="en-US" altLang="zh-CN" sz="2400" b="0" i="0" dirty="0">
                <a:solidFill>
                  <a:srgbClr val="475569"/>
                </a:solidFill>
                <a:effectLst/>
                <a:latin typeface="Courier New" panose="02070309020205020404" pitchFamily="49" charset="0"/>
              </a:rPr>
              <a:t>-t 2 -c 10 -g 0.5</a:t>
            </a:r>
            <a:endParaRPr lang="zh-CN" altLang="en-US" sz="2400" b="0" i="0" dirty="0">
              <a:solidFill>
                <a:srgbClr val="475569"/>
              </a:solidFill>
              <a:effectLst/>
              <a:latin typeface="DM Sans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zh-CN" altLang="en-US" sz="2400" b="0" i="0" dirty="0">
                <a:solidFill>
                  <a:srgbClr val="475569"/>
                </a:solidFill>
                <a:effectLst/>
                <a:latin typeface="DM Sans" pitchFamily="2" charset="0"/>
              </a:rPr>
              <a:t>针对环形分布产生的线性不可分数据集。通过核技巧映射到高维空间，产生非线性的封闭决策边界。支持向量数量显著增加 </a:t>
            </a:r>
            <a:r>
              <a:rPr lang="en-US" altLang="zh-CN" sz="2400" b="0" i="0" dirty="0">
                <a:solidFill>
                  <a:srgbClr val="475569"/>
                </a:solidFill>
                <a:effectLst/>
                <a:latin typeface="DM Sans" pitchFamily="2" charset="0"/>
              </a:rPr>
              <a:t>(SV=26)</a:t>
            </a:r>
            <a:r>
              <a:rPr lang="zh-CN" altLang="en-US" sz="2400" b="0" i="0" dirty="0">
                <a:solidFill>
                  <a:srgbClr val="475569"/>
                </a:solidFill>
                <a:effectLst/>
                <a:latin typeface="DM Sans" pitchFamily="2" charset="0"/>
              </a:rPr>
              <a:t>。</a:t>
            </a:r>
          </a:p>
        </p:txBody>
      </p:sp>
      <p:sp>
        <p:nvSpPr>
          <p:cNvPr id="4" name="Google Shape;235;p24">
            <a:extLst>
              <a:ext uri="{FF2B5EF4-FFF2-40B4-BE49-F238E27FC236}">
                <a16:creationId xmlns:a16="http://schemas.microsoft.com/office/drawing/2014/main" id="{2BEF8311-24FE-B450-760C-66BAADD34195}"/>
              </a:ext>
            </a:extLst>
          </p:cNvPr>
          <p:cNvSpPr/>
          <p:nvPr/>
        </p:nvSpPr>
        <p:spPr>
          <a:xfrm>
            <a:off x="571500" y="380527"/>
            <a:ext cx="7620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191A74-6E12-010F-A0A6-1899C47EA324}"/>
              </a:ext>
            </a:extLst>
          </p:cNvPr>
          <p:cNvSpPr txBox="1"/>
          <p:nvPr/>
        </p:nvSpPr>
        <p:spPr>
          <a:xfrm>
            <a:off x="647700" y="331890"/>
            <a:ext cx="6096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zh-CN" altLang="en-US" sz="3300" b="1" i="0" dirty="0">
                <a:solidFill>
                  <a:schemeClr val="tx1"/>
                </a:solidFill>
                <a:effectLst/>
                <a:latin typeface="Merriweather" panose="00000500000000000000" pitchFamily="2" charset="0"/>
              </a:rPr>
              <a:t>线性与非线性分类方案对比</a:t>
            </a:r>
          </a:p>
        </p:txBody>
      </p:sp>
    </p:spTree>
    <p:extLst>
      <p:ext uri="{BB962C8B-B14F-4D97-AF65-F5344CB8AC3E}">
        <p14:creationId xmlns:p14="http://schemas.microsoft.com/office/powerpoint/2010/main" val="946912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971508"/>
            <a:ext cx="5381625" cy="4178391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571499" y="6059001"/>
            <a:ext cx="110490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通过可视化可以验证：核函数的选择和参数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 C </a:t>
            </a:r>
            <a:r>
              <a:rPr lang="en-US" sz="1800" b="0" i="0" u="none" strike="noStrike" cap="none" dirty="0" err="1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显著影响了分类面的复杂度和模型的鲁棒性</a:t>
            </a:r>
            <a:r>
              <a:rPr lang="en-US" sz="1800" b="0" i="0" u="none" strike="noStrike" cap="none" dirty="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sz="1800" dirty="0"/>
          </a:p>
        </p:txBody>
      </p:sp>
      <p:sp>
        <p:nvSpPr>
          <p:cNvPr id="226" name="Google Shape;226;p24"/>
          <p:cNvSpPr/>
          <p:nvPr/>
        </p:nvSpPr>
        <p:spPr>
          <a:xfrm>
            <a:off x="560523" y="6582519"/>
            <a:ext cx="110490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436959" y="5279826"/>
            <a:ext cx="56507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线性可分</a:t>
            </a:r>
            <a:endParaRPr sz="2000" dirty="0"/>
          </a:p>
        </p:txBody>
      </p:sp>
      <p:sp>
        <p:nvSpPr>
          <p:cNvPr id="228" name="Google Shape;228;p24"/>
          <p:cNvSpPr txBox="1"/>
          <p:nvPr/>
        </p:nvSpPr>
        <p:spPr>
          <a:xfrm>
            <a:off x="560523" y="5720298"/>
            <a:ext cx="538162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观察决策边界、最大间隔带</a:t>
            </a:r>
            <a:r>
              <a:rPr lang="en-US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(Margin)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及关键的支持向量位置</a:t>
            </a:r>
            <a:r>
              <a:rPr lang="en-US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sp>
        <p:nvSpPr>
          <p:cNvPr id="229" name="Google Shape;229;p24"/>
          <p:cNvSpPr txBox="1"/>
          <p:nvPr/>
        </p:nvSpPr>
        <p:spPr>
          <a:xfrm>
            <a:off x="6104334" y="5279826"/>
            <a:ext cx="565070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线性不可分</a:t>
            </a:r>
            <a:endParaRPr sz="2000" dirty="0"/>
          </a:p>
        </p:txBody>
      </p:sp>
      <p:sp>
        <p:nvSpPr>
          <p:cNvPr id="230" name="Google Shape;230;p24"/>
          <p:cNvSpPr txBox="1"/>
          <p:nvPr/>
        </p:nvSpPr>
        <p:spPr>
          <a:xfrm>
            <a:off x="6238875" y="5726400"/>
            <a:ext cx="5650706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观察核函数如何将样本映射到高维空间，以及</a:t>
            </a:r>
            <a:r>
              <a:rPr lang="en-US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 C </a:t>
            </a:r>
            <a:r>
              <a:rPr lang="en-US" b="0" i="0" u="none" strike="noStrike" cap="none" dirty="0" err="1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对错分样本的容忍度</a:t>
            </a:r>
            <a:r>
              <a:rPr lang="en-US" b="0" i="0" u="none" strike="noStrike" cap="none" dirty="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dirty="0"/>
          </a:p>
        </p:txBody>
      </p:sp>
      <p:pic>
        <p:nvPicPr>
          <p:cNvPr id="231" name="Google Shape;231;p24"/>
          <p:cNvPicPr preferRelativeResize="0"/>
          <p:nvPr/>
        </p:nvPicPr>
        <p:blipFill rotWithShape="1">
          <a:blip r:embed="rId5"/>
          <a:srcRect/>
          <a:stretch/>
        </p:blipFill>
        <p:spPr>
          <a:xfrm>
            <a:off x="1566597" y="971508"/>
            <a:ext cx="3391429" cy="4165443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739140" y="325743"/>
            <a:ext cx="11361420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可视化分析：分类面与支持向量</a:t>
            </a:r>
            <a:endParaRPr dirty="0"/>
          </a:p>
        </p:txBody>
      </p:sp>
      <p:sp>
        <p:nvSpPr>
          <p:cNvPr id="235" name="Google Shape;235;p24"/>
          <p:cNvSpPr/>
          <p:nvPr/>
        </p:nvSpPr>
        <p:spPr>
          <a:xfrm>
            <a:off x="571500" y="380527"/>
            <a:ext cx="7620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224;p24" descr="image.png">
            <a:extLst>
              <a:ext uri="{FF2B5EF4-FFF2-40B4-BE49-F238E27FC236}">
                <a16:creationId xmlns:a16="http://schemas.microsoft.com/office/drawing/2014/main" id="{75DBBE33-0362-B9F0-26F8-6771787A5C8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971508"/>
            <a:ext cx="5381624" cy="4178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627321E-C41F-7B7E-7CFC-9F28F9EF20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284" y="986001"/>
            <a:ext cx="3402119" cy="41638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FA75ADF-72F2-3BF6-50A1-B8042A6B66CA}"/>
              </a:ext>
            </a:extLst>
          </p:cNvPr>
          <p:cNvSpPr txBox="1"/>
          <p:nvPr/>
        </p:nvSpPr>
        <p:spPr>
          <a:xfrm>
            <a:off x="297711" y="1250312"/>
            <a:ext cx="1159657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zh-CN" sz="4000" b="1" i="0" dirty="0">
                <a:solidFill>
                  <a:srgbClr val="3B82F6"/>
                </a:solidFill>
                <a:effectLst/>
                <a:latin typeface="DM Sans" pitchFamily="2" charset="0"/>
              </a:rPr>
              <a:t>99.62%</a:t>
            </a:r>
          </a:p>
          <a:p>
            <a:pPr algn="ctr">
              <a:buNone/>
            </a:pPr>
            <a:r>
              <a:rPr lang="zh-CN" altLang="en-US" sz="4000" b="0" i="0" dirty="0">
                <a:solidFill>
                  <a:schemeClr val="tx1"/>
                </a:solidFill>
                <a:effectLst/>
                <a:latin typeface="DM Sans" pitchFamily="2" charset="0"/>
              </a:rPr>
              <a:t>任务一 </a:t>
            </a:r>
            <a:r>
              <a:rPr lang="en-US" altLang="zh-CN" sz="4000" b="0" i="0" dirty="0">
                <a:solidFill>
                  <a:schemeClr val="tx1"/>
                </a:solidFill>
                <a:effectLst/>
                <a:latin typeface="DM Sans" pitchFamily="2" charset="0"/>
              </a:rPr>
              <a:t>CV </a:t>
            </a:r>
            <a:r>
              <a:rPr lang="zh-CN" altLang="en-US" sz="4000" b="0" i="0" dirty="0">
                <a:solidFill>
                  <a:schemeClr val="tx1"/>
                </a:solidFill>
                <a:effectLst/>
                <a:latin typeface="DM Sans" pitchFamily="2" charset="0"/>
              </a:rPr>
              <a:t>准确度</a:t>
            </a:r>
          </a:p>
          <a:p>
            <a:pPr algn="ctr">
              <a:buNone/>
            </a:pPr>
            <a:r>
              <a:rPr lang="en-US" altLang="zh-CN" sz="4000" b="1" i="0" dirty="0">
                <a:solidFill>
                  <a:srgbClr val="3B82F6"/>
                </a:solidFill>
                <a:effectLst/>
                <a:latin typeface="DM Sans" pitchFamily="2" charset="0"/>
              </a:rPr>
              <a:t>26</a:t>
            </a:r>
          </a:p>
          <a:p>
            <a:pPr algn="ctr">
              <a:buNone/>
            </a:pPr>
            <a:r>
              <a:rPr lang="zh-CN" altLang="en-US" sz="4000" b="0" i="0" dirty="0">
                <a:solidFill>
                  <a:schemeClr val="tx1"/>
                </a:solidFill>
                <a:effectLst/>
                <a:latin typeface="DM Sans" pitchFamily="2" charset="0"/>
              </a:rPr>
              <a:t>非线性支持向量数</a:t>
            </a:r>
          </a:p>
          <a:p>
            <a:pPr algn="ctr">
              <a:buNone/>
            </a:pPr>
            <a:r>
              <a:rPr lang="en-US" altLang="zh-CN" sz="4000" b="1" i="0" dirty="0">
                <a:solidFill>
                  <a:srgbClr val="3B82F6"/>
                </a:solidFill>
                <a:effectLst/>
                <a:latin typeface="DM Sans" pitchFamily="2" charset="0"/>
              </a:rPr>
              <a:t>420</a:t>
            </a:r>
          </a:p>
          <a:p>
            <a:pPr algn="ctr">
              <a:buNone/>
            </a:pPr>
            <a:r>
              <a:rPr lang="zh-CN" altLang="en-US" sz="4000" b="0" i="0" dirty="0">
                <a:solidFill>
                  <a:schemeClr val="tx1"/>
                </a:solidFill>
                <a:effectLst/>
                <a:latin typeface="DM Sans" pitchFamily="2" charset="0"/>
              </a:rPr>
              <a:t>测试集预测样本数</a:t>
            </a:r>
          </a:p>
        </p:txBody>
      </p:sp>
      <p:sp>
        <p:nvSpPr>
          <p:cNvPr id="6" name="Google Shape;235;p24">
            <a:extLst>
              <a:ext uri="{FF2B5EF4-FFF2-40B4-BE49-F238E27FC236}">
                <a16:creationId xmlns:a16="http://schemas.microsoft.com/office/drawing/2014/main" id="{C874C11C-8DD3-9176-E299-049E9378FC61}"/>
              </a:ext>
            </a:extLst>
          </p:cNvPr>
          <p:cNvSpPr/>
          <p:nvPr/>
        </p:nvSpPr>
        <p:spPr>
          <a:xfrm>
            <a:off x="571500" y="380527"/>
            <a:ext cx="76200" cy="5028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1F27E2-E2C1-FB06-30DC-295DE8AD13FB}"/>
              </a:ext>
            </a:extLst>
          </p:cNvPr>
          <p:cNvSpPr txBox="1"/>
          <p:nvPr/>
        </p:nvSpPr>
        <p:spPr>
          <a:xfrm>
            <a:off x="708838" y="331890"/>
            <a:ext cx="612435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50"/>
              </a:spcAft>
              <a:buNone/>
            </a:pPr>
            <a:r>
              <a:rPr lang="zh-CN" altLang="en-US" sz="3300" b="1" i="0" dirty="0">
                <a:solidFill>
                  <a:schemeClr val="tx1"/>
                </a:solidFill>
                <a:effectLst/>
                <a:latin typeface="Merriweather" panose="00000500000000000000" pitchFamily="2" charset="0"/>
              </a:rPr>
              <a:t>关键性能指标汇总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15FEB07-F1C9-25FA-B045-251F469F68A6}"/>
              </a:ext>
            </a:extLst>
          </p:cNvPr>
          <p:cNvSpPr txBox="1"/>
          <p:nvPr/>
        </p:nvSpPr>
        <p:spPr>
          <a:xfrm>
            <a:off x="1463748" y="5248896"/>
            <a:ext cx="92645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0"/>
              </a:spcBef>
              <a:buNone/>
            </a:pPr>
            <a:r>
              <a:rPr lang="zh-CN" altLang="en-US" sz="2400" b="1" i="0" dirty="0">
                <a:solidFill>
                  <a:srgbClr val="475569"/>
                </a:solidFill>
                <a:effectLst/>
                <a:latin typeface="DM Sans" pitchFamily="2" charset="0"/>
              </a:rPr>
              <a:t>实验证明</a:t>
            </a:r>
            <a:r>
              <a:rPr lang="zh-CN" altLang="en-US" sz="2400" b="0" i="0" dirty="0">
                <a:solidFill>
                  <a:srgbClr val="475569"/>
                </a:solidFill>
                <a:effectLst/>
                <a:latin typeface="DM Sans" pitchFamily="2" charset="0"/>
              </a:rPr>
              <a:t>：合理的特征缩放与参数网格搜索是提升 </a:t>
            </a:r>
            <a:r>
              <a:rPr lang="en-US" altLang="zh-CN" sz="2400" b="0" i="0" dirty="0">
                <a:solidFill>
                  <a:srgbClr val="475569"/>
                </a:solidFill>
                <a:effectLst/>
                <a:latin typeface="DM Sans" pitchFamily="2" charset="0"/>
              </a:rPr>
              <a:t>SVM </a:t>
            </a:r>
            <a:r>
              <a:rPr lang="zh-CN" altLang="en-US" sz="2400" b="0" i="0" dirty="0">
                <a:solidFill>
                  <a:srgbClr val="475569"/>
                </a:solidFill>
                <a:effectLst/>
                <a:latin typeface="DM Sans" pitchFamily="2" charset="0"/>
              </a:rPr>
              <a:t>性能的核心。任务二的可视化结果清晰展示了支持向量对分类界面的决定性作用。</a:t>
            </a:r>
          </a:p>
        </p:txBody>
      </p:sp>
    </p:spTree>
    <p:extLst>
      <p:ext uri="{BB962C8B-B14F-4D97-AF65-F5344CB8AC3E}">
        <p14:creationId xmlns:p14="http://schemas.microsoft.com/office/powerpoint/2010/main" val="3511938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544D107-D868-DE49-64FF-63AD31B4DEA5}"/>
              </a:ext>
            </a:extLst>
          </p:cNvPr>
          <p:cNvSpPr txBox="1"/>
          <p:nvPr/>
        </p:nvSpPr>
        <p:spPr>
          <a:xfrm>
            <a:off x="3048000" y="2921168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sz="6000" b="1" i="0" dirty="0">
                <a:solidFill>
                  <a:srgbClr val="3B82F6"/>
                </a:solidFill>
                <a:effectLst/>
                <a:latin typeface="Merriweather" panose="00000500000000000000" pitchFamily="2" charset="0"/>
              </a:rPr>
              <a:t>谢谢观看</a:t>
            </a:r>
          </a:p>
        </p:txBody>
      </p:sp>
    </p:spTree>
    <p:extLst>
      <p:ext uri="{BB962C8B-B14F-4D97-AF65-F5344CB8AC3E}">
        <p14:creationId xmlns:p14="http://schemas.microsoft.com/office/powerpoint/2010/main" val="3451057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656</Words>
  <Application>Microsoft Office PowerPoint</Application>
  <PresentationFormat>宽屏</PresentationFormat>
  <Paragraphs>82</Paragraphs>
  <Slides>15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Noto Sans SC</vt:lpstr>
      <vt:lpstr>Cambria Math</vt:lpstr>
      <vt:lpstr>Roboto Mono</vt:lpstr>
      <vt:lpstr>Merriweather</vt:lpstr>
      <vt:lpstr>Courier New</vt:lpstr>
      <vt:lpstr>Calibri</vt:lpstr>
      <vt:lpstr>DM Sans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超然 刘</cp:lastModifiedBy>
  <cp:revision>39</cp:revision>
  <dcterms:modified xsi:type="dcterms:W3CDTF">2026-05-05T15:56:06Z</dcterms:modified>
</cp:coreProperties>
</file>
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70" r:id="rId4"/>
    <p:sldId id="257" r:id="rId5"/>
    <p:sldId id="263" r:id="rId6"/>
    <p:sldId id="267" r:id="rId7"/>
    <p:sldId id="269" r:id="rId8"/>
    <p:sldId id="272" r:id="rId9"/>
    <p:sldId id="271" r:id="rId11"/>
  </p:sldIdLst>
  <p:sldSz cx="9144000" cy="6858000" type="screen4x3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4" d="100"/>
          <a:sy n="94" d="100"/>
        </p:scale>
        <p:origin x="1700" y="52"/>
      </p:cViewPr>
      <p:guideLst>
        <p:guide orient="horz" pos="209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CEF5A-AC92-4BA2-934F-85F9096FB18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BD81D-788E-4E10-9246-F8C134FFBD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BD81D-788E-4E10-9246-F8C134FFBD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hyperlink" Target="mailto:zhouxue@uestc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hyperlink" Target="http://www.csie.ntu.edu.tw/~cjlin/libsv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csie.ntu.edu.tw/~cjlin/libsvm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w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964081" y="320417"/>
            <a:ext cx="715935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8800" kern="1200" cap="all" spc="-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4800" dirty="0">
                <a:solidFill>
                  <a:srgbClr val="C00000"/>
                </a:solidFill>
              </a:rPr>
              <a:t>《</a:t>
            </a:r>
            <a:r>
              <a:rPr lang="zh-CN" altLang="en-US" sz="4800" dirty="0">
                <a:solidFill>
                  <a:srgbClr val="C00000"/>
                </a:solidFill>
              </a:rPr>
              <a:t>模式识别</a:t>
            </a:r>
            <a:r>
              <a:rPr lang="en-US" altLang="zh-CN" sz="4800" dirty="0">
                <a:solidFill>
                  <a:srgbClr val="C00000"/>
                </a:solidFill>
              </a:rPr>
              <a:t>》</a:t>
            </a:r>
            <a:r>
              <a:rPr lang="zh-CN" altLang="en-US" sz="4800" dirty="0">
                <a:solidFill>
                  <a:srgbClr val="C00000"/>
                </a:solidFill>
              </a:rPr>
              <a:t>课程</a:t>
            </a:r>
            <a:endParaRPr lang="en-US" altLang="zh-CN" sz="4800" dirty="0">
              <a:solidFill>
                <a:srgbClr val="C00000"/>
              </a:solidFill>
            </a:endParaRPr>
          </a:p>
          <a:p>
            <a:r>
              <a:rPr lang="zh-CN" altLang="en-US" sz="4800" dirty="0">
                <a:solidFill>
                  <a:srgbClr val="C00000"/>
                </a:solidFill>
              </a:rPr>
              <a:t>             大作业</a:t>
            </a:r>
            <a:r>
              <a:rPr lang="en-US" altLang="zh-CN" sz="4800" dirty="0">
                <a:solidFill>
                  <a:srgbClr val="C00000"/>
                </a:solidFill>
              </a:rPr>
              <a:t>3</a:t>
            </a:r>
            <a:endParaRPr lang="zh-CN" altLang="en-US" sz="4800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87048" y="5069384"/>
            <a:ext cx="34083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dirty="0"/>
              <a:t>电子科技大学</a:t>
            </a:r>
            <a:endParaRPr lang="en-US" altLang="zh-CN" sz="3600" dirty="0"/>
          </a:p>
          <a:p>
            <a:pPr algn="ctr"/>
            <a:r>
              <a:rPr lang="zh-CN" altLang="en-US" sz="3600" dirty="0"/>
              <a:t>周雪</a:t>
            </a:r>
            <a:endParaRPr lang="en-US" altLang="zh-CN" sz="3600" dirty="0"/>
          </a:p>
          <a:p>
            <a:pPr algn="ctr"/>
            <a:r>
              <a:rPr lang="en-US" altLang="zh-CN" sz="2400" dirty="0">
                <a:hlinkClick r:id="rId1"/>
              </a:rPr>
              <a:t>zhouxue@uestc.edu.cn</a:t>
            </a:r>
            <a:endParaRPr lang="en-US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204864"/>
            <a:ext cx="2939591" cy="235167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105" y="2192040"/>
            <a:ext cx="3000328" cy="23644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109885" y="455653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正样本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6184687" y="451538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负样本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179705" y="1557020"/>
            <a:ext cx="8437245" cy="43738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highlight>
                  <a:srgbClr val="FFFF00"/>
                </a:highlight>
              </a:rPr>
              <a:t>任务</a:t>
            </a:r>
            <a:r>
              <a:rPr lang="en-US" altLang="zh-CN" sz="2400" dirty="0">
                <a:highlight>
                  <a:srgbClr val="FFFF00"/>
                </a:highlight>
              </a:rPr>
              <a:t>1</a:t>
            </a:r>
            <a:r>
              <a:rPr lang="zh-CN" altLang="en-US" sz="2400" dirty="0">
                <a:highlight>
                  <a:srgbClr val="FFFF00"/>
                </a:highlight>
              </a:rPr>
              <a:t>：人脸</a:t>
            </a:r>
            <a:r>
              <a:rPr lang="en-US" altLang="zh-CN" sz="2400" dirty="0">
                <a:highlight>
                  <a:srgbClr val="FFFF00"/>
                </a:highlight>
              </a:rPr>
              <a:t>or</a:t>
            </a:r>
            <a:r>
              <a:rPr lang="zh-CN" altLang="en-US" sz="2400" dirty="0">
                <a:highlight>
                  <a:srgbClr val="FFFF00"/>
                </a:highlight>
              </a:rPr>
              <a:t>非人脸？</a:t>
            </a:r>
            <a:endParaRPr lang="en-US" altLang="zh-CN" sz="2400" dirty="0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highlight>
                  <a:srgbClr val="FFFF00"/>
                </a:highlight>
              </a:rPr>
              <a:t>任务</a:t>
            </a:r>
            <a:r>
              <a:rPr lang="en-US" altLang="zh-CN" sz="2400" dirty="0">
                <a:highlight>
                  <a:srgbClr val="FFFF00"/>
                </a:highlight>
              </a:rPr>
              <a:t>2</a:t>
            </a:r>
            <a:r>
              <a:rPr lang="zh-CN" altLang="en-US" sz="2400" dirty="0">
                <a:highlight>
                  <a:srgbClr val="FFFF00"/>
                </a:highlight>
              </a:rPr>
              <a:t>：基于</a:t>
            </a:r>
            <a:r>
              <a:rPr lang="en-US" altLang="zh-CN" sz="2400" dirty="0" err="1">
                <a:highlight>
                  <a:srgbClr val="FFFF00"/>
                </a:highlight>
              </a:rPr>
              <a:t>libsvm</a:t>
            </a:r>
            <a:r>
              <a:rPr lang="zh-CN" altLang="en-US" sz="2400" dirty="0">
                <a:highlight>
                  <a:srgbClr val="FFFF00"/>
                </a:highlight>
              </a:rPr>
              <a:t>的自行设计样本分类的可视化</a:t>
            </a:r>
            <a:endParaRPr lang="en-US" altLang="zh-CN" sz="2400" dirty="0">
              <a:highlight>
                <a:srgbClr val="FFFF00"/>
              </a:highligh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</a:rPr>
              <a:t>任务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>
                <a:solidFill>
                  <a:srgbClr val="FF0000"/>
                </a:solidFill>
              </a:rPr>
              <a:t>必做题，任务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>
                <a:solidFill>
                  <a:srgbClr val="FF0000"/>
                </a:solidFill>
              </a:rPr>
              <a:t>加分题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自行组队：</a:t>
            </a:r>
            <a:r>
              <a:rPr lang="en-US" altLang="zh-CN" sz="2400" dirty="0"/>
              <a:t>1-3</a:t>
            </a:r>
            <a:r>
              <a:rPr lang="zh-CN" altLang="en-US" sz="2400" dirty="0"/>
              <a:t>人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时间节点：</a:t>
            </a:r>
            <a:r>
              <a:rPr lang="zh-CN" altLang="en-US" sz="2400" dirty="0">
                <a:solidFill>
                  <a:srgbClr val="FF0000"/>
                </a:solidFill>
              </a:rPr>
              <a:t>5月</a:t>
            </a:r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r>
              <a:rPr lang="zh-CN" altLang="en-US" sz="2400" dirty="0">
                <a:solidFill>
                  <a:srgbClr val="FF0000"/>
                </a:solidFill>
              </a:rPr>
              <a:t>日</a:t>
            </a:r>
            <a:r>
              <a:rPr lang="en-US" altLang="zh-CN" sz="2400" dirty="0">
                <a:solidFill>
                  <a:srgbClr val="FF0000"/>
                </a:solidFill>
              </a:rPr>
              <a:t>24:00</a:t>
            </a:r>
            <a:r>
              <a:rPr lang="zh-CN" altLang="en-US" sz="2400" dirty="0">
                <a:solidFill>
                  <a:srgbClr val="FF0000"/>
                </a:solidFill>
              </a:rPr>
              <a:t>前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  <a:r>
              <a:rPr lang="zh-CN" altLang="en-US" sz="2400" dirty="0">
                <a:solidFill>
                  <a:srgbClr val="FF0000"/>
                </a:solidFill>
              </a:rPr>
              <a:t>  </a:t>
            </a:r>
            <a:r>
              <a:rPr lang="zh-CN" altLang="en-US" sz="2400" dirty="0"/>
              <a:t>过时不候</a:t>
            </a:r>
            <a:endParaRPr lang="en-US" altLang="zh-C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B050"/>
                </a:solidFill>
              </a:rPr>
              <a:t>提交内容：</a:t>
            </a:r>
            <a:r>
              <a:rPr lang="en-US" altLang="zh-CN" sz="2400" dirty="0">
                <a:solidFill>
                  <a:srgbClr val="00B050"/>
                </a:solidFill>
              </a:rPr>
              <a:t>1. </a:t>
            </a:r>
            <a:r>
              <a:rPr lang="zh-CN" altLang="en-US" sz="2400" dirty="0">
                <a:solidFill>
                  <a:srgbClr val="00B050"/>
                </a:solidFill>
              </a:rPr>
              <a:t>程序内容以及方案和结果</a:t>
            </a:r>
            <a:r>
              <a:rPr lang="en-US" altLang="zh-CN" sz="2400" dirty="0">
                <a:solidFill>
                  <a:srgbClr val="00B050"/>
                </a:solidFill>
              </a:rPr>
              <a:t>(</a:t>
            </a:r>
            <a:r>
              <a:rPr lang="zh-CN" altLang="en-US" sz="2400" dirty="0">
                <a:solidFill>
                  <a:srgbClr val="00B050"/>
                </a:solidFill>
              </a:rPr>
              <a:t>用</a:t>
            </a:r>
            <a:r>
              <a:rPr lang="en-US" altLang="zh-CN" sz="2400" dirty="0">
                <a:solidFill>
                  <a:srgbClr val="00B050"/>
                </a:solidFill>
              </a:rPr>
              <a:t>ppt</a:t>
            </a:r>
            <a:r>
              <a:rPr lang="zh-CN" altLang="en-US" sz="2400" dirty="0">
                <a:solidFill>
                  <a:srgbClr val="00B050"/>
                </a:solidFill>
              </a:rPr>
              <a:t>的形式</a:t>
            </a:r>
            <a:r>
              <a:rPr lang="en-US" altLang="zh-CN" sz="2400" dirty="0">
                <a:solidFill>
                  <a:srgbClr val="00B050"/>
                </a:solidFill>
              </a:rPr>
              <a:t>)</a:t>
            </a:r>
            <a:endParaRPr lang="en-US" altLang="zh-CN" sz="2400" dirty="0">
              <a:solidFill>
                <a:srgbClr val="00B050"/>
              </a:solidFill>
            </a:endParaRPr>
          </a:p>
          <a:p>
            <a:r>
              <a:rPr lang="en-US" altLang="zh-CN" sz="2400" dirty="0">
                <a:solidFill>
                  <a:srgbClr val="00B050"/>
                </a:solidFill>
              </a:rPr>
              <a:t>                      2. </a:t>
            </a:r>
            <a:r>
              <a:rPr lang="zh-CN" altLang="en-US" sz="2400" dirty="0">
                <a:solidFill>
                  <a:srgbClr val="00B050"/>
                </a:solidFill>
              </a:rPr>
              <a:t>将结果的</a:t>
            </a:r>
            <a:r>
              <a:rPr lang="en-US" altLang="zh-CN" sz="2400" dirty="0">
                <a:solidFill>
                  <a:srgbClr val="00B050"/>
                </a:solidFill>
              </a:rPr>
              <a:t>label</a:t>
            </a:r>
            <a:r>
              <a:rPr lang="zh-CN" altLang="en-US" sz="2400" dirty="0">
                <a:solidFill>
                  <a:srgbClr val="00B050"/>
                </a:solidFill>
              </a:rPr>
              <a:t>以要求的格式提交到网站</a:t>
            </a:r>
            <a:endParaRPr lang="en-US" altLang="zh-CN" sz="2400" dirty="0">
              <a:solidFill>
                <a:srgbClr val="00B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提交方式：</a:t>
            </a:r>
            <a:r>
              <a:rPr lang="zh-CN" altLang="en-US" sz="1800" dirty="0"/>
              <a:t>点击上方菜单栏跳转到</a:t>
            </a:r>
            <a:r>
              <a:rPr lang="en-US" altLang="zh-CN" sz="1800" dirty="0"/>
              <a:t>“</a:t>
            </a:r>
            <a:r>
              <a:rPr lang="zh-CN" altLang="en-US" sz="1800" dirty="0"/>
              <a:t>上传文件</a:t>
            </a:r>
            <a:r>
              <a:rPr lang="en-US" altLang="zh-CN" sz="1800" dirty="0"/>
              <a:t>”</a:t>
            </a:r>
            <a:r>
              <a:rPr lang="zh-CN" altLang="en-US" sz="1800" dirty="0"/>
              <a:t>一栏，</a:t>
            </a:r>
            <a:endParaRPr lang="zh-CN" altLang="en-US" sz="1800" dirty="0"/>
          </a:p>
          <a:p>
            <a:pPr>
              <a:buFont typeface="Arial" panose="020B0604020202020204" pitchFamily="34" charset="0"/>
            </a:pPr>
            <a:r>
              <a:rPr lang="en-US" altLang="zh-CN" sz="1800" dirty="0"/>
              <a:t>                             </a:t>
            </a:r>
            <a:r>
              <a:rPr lang="en-US" altLang="zh-CN" sz="1800" u="sng" dirty="0">
                <a:solidFill>
                  <a:srgbClr val="FF0000"/>
                </a:solidFill>
              </a:rPr>
              <a:t>PPT</a:t>
            </a:r>
            <a:r>
              <a:rPr lang="zh-CN" altLang="en-US" sz="1800" u="sng" dirty="0">
                <a:solidFill>
                  <a:srgbClr val="FF0000"/>
                </a:solidFill>
              </a:rPr>
              <a:t>和程序内容</a:t>
            </a:r>
            <a:r>
              <a:rPr lang="zh-CN" sz="1800" u="sng" dirty="0">
                <a:solidFill>
                  <a:srgbClr val="FF0000"/>
                </a:solidFill>
              </a:rPr>
              <a:t>分别通过网站提交</a:t>
            </a:r>
            <a:r>
              <a:rPr lang="en-US" altLang="zh-CN" sz="1800" dirty="0"/>
              <a:t>(</a:t>
            </a:r>
            <a:r>
              <a:rPr lang="zh-CN" altLang="en-US" sz="1800" dirty="0">
                <a:highlight>
                  <a:srgbClr val="FFFF00"/>
                </a:highlight>
              </a:rPr>
              <a:t>同学姓名命名</a:t>
            </a:r>
            <a:r>
              <a:rPr lang="en-US" altLang="zh-CN" sz="1800" dirty="0"/>
              <a:t>)</a:t>
            </a:r>
            <a:r>
              <a:rPr lang="zh-CN" altLang="en-US" sz="1800" b="0" dirty="0"/>
              <a:t> </a:t>
            </a:r>
            <a:endParaRPr lang="en-US" altLang="zh-CN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/>
              <a:t>选出</a:t>
            </a:r>
            <a:r>
              <a:rPr lang="en-US" altLang="zh-CN" sz="2400" dirty="0"/>
              <a:t>2-3</a:t>
            </a:r>
            <a:r>
              <a:rPr lang="zh-CN" altLang="en-US" sz="2400" dirty="0"/>
              <a:t>组做的比较好的同学在后续课上做</a:t>
            </a:r>
            <a:r>
              <a:rPr lang="en-US" altLang="zh-CN" sz="2400" dirty="0"/>
              <a:t>presentation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046836" y="332656"/>
            <a:ext cx="70503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 err="1">
                <a:solidFill>
                  <a:srgbClr val="FF0000"/>
                </a:solidFill>
              </a:rPr>
              <a:t>Libsvm</a:t>
            </a:r>
            <a:r>
              <a:rPr lang="zh-CN" altLang="en-US" sz="4400" dirty="0">
                <a:solidFill>
                  <a:srgbClr val="FF0000"/>
                </a:solidFill>
              </a:rPr>
              <a:t>工具箱的学习和使用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1184" y="-402728"/>
            <a:ext cx="7499176" cy="1371600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任务</a:t>
            </a:r>
            <a:r>
              <a:rPr lang="en-US" altLang="zh-CN" sz="2800" dirty="0"/>
              <a:t>1</a:t>
            </a:r>
            <a:r>
              <a:rPr lang="zh-CN" altLang="en-US" sz="2800" dirty="0"/>
              <a:t>：人脸</a:t>
            </a:r>
            <a:r>
              <a:rPr lang="en-US" altLang="zh-CN" sz="2800" dirty="0"/>
              <a:t>or</a:t>
            </a:r>
            <a:r>
              <a:rPr lang="zh-CN" altLang="en-US" sz="2800" dirty="0"/>
              <a:t>非人脸？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341184" y="1747947"/>
            <a:ext cx="608051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已知：来自于两类的样本及对应的</a:t>
            </a:r>
            <a:r>
              <a:rPr lang="en-US" altLang="zh-CN" sz="2400" dirty="0"/>
              <a:t>label</a:t>
            </a:r>
            <a:endParaRPr lang="en-US" altLang="zh-CN" sz="2400" dirty="0"/>
          </a:p>
          <a:p>
            <a:r>
              <a:rPr lang="zh-CN" altLang="en-US" sz="2400" dirty="0"/>
              <a:t>要求：用</a:t>
            </a:r>
            <a:r>
              <a:rPr lang="en-US" altLang="zh-CN" sz="2400" dirty="0" err="1">
                <a:solidFill>
                  <a:schemeClr val="tx2"/>
                </a:solidFill>
              </a:rPr>
              <a:t>libsvm</a:t>
            </a:r>
            <a:r>
              <a:rPr lang="zh-CN" altLang="en-US" sz="2400" dirty="0">
                <a:solidFill>
                  <a:schemeClr val="tx2"/>
                </a:solidFill>
              </a:rPr>
              <a:t>工具箱</a:t>
            </a:r>
            <a:r>
              <a:rPr lang="zh-CN" altLang="en-US" sz="2400" dirty="0"/>
              <a:t>训练</a:t>
            </a:r>
            <a:r>
              <a:rPr lang="en-US" altLang="zh-CN" sz="2400" dirty="0"/>
              <a:t>SVM</a:t>
            </a:r>
            <a:r>
              <a:rPr lang="zh-CN" altLang="en-US" sz="2400" dirty="0"/>
              <a:t>模型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zh-CN" altLang="en-US" sz="2400" dirty="0"/>
              <a:t>并用于新数据的测试，给出结果</a:t>
            </a:r>
            <a:r>
              <a:rPr lang="en-US" altLang="zh-CN" sz="2400" dirty="0"/>
              <a:t>label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zh-CN" altLang="en-US" sz="2400" dirty="0"/>
              <a:t>按照指定格式要求 上传至网站</a:t>
            </a:r>
            <a:endParaRPr lang="en-US" altLang="zh-CN" sz="2400" dirty="0"/>
          </a:p>
        </p:txBody>
      </p:sp>
      <p:sp>
        <p:nvSpPr>
          <p:cNvPr id="6" name="矩形 5"/>
          <p:cNvSpPr/>
          <p:nvPr/>
        </p:nvSpPr>
        <p:spPr>
          <a:xfrm>
            <a:off x="457200" y="6300028"/>
            <a:ext cx="561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tx2"/>
                </a:solidFill>
                <a:hlinkClick r:id="rId1"/>
              </a:rPr>
              <a:t>工具箱下载：</a:t>
            </a:r>
            <a:r>
              <a:rPr lang="en-US" altLang="zh-CN" dirty="0">
                <a:solidFill>
                  <a:schemeClr val="tx2"/>
                </a:solidFill>
                <a:hlinkClick r:id="rId1"/>
              </a:rPr>
              <a:t>http://www.csie.ntu.edu.tw/~cjlin/libsvm/</a:t>
            </a:r>
            <a:endParaRPr lang="zh-CN" altLang="en-US" dirty="0"/>
          </a:p>
        </p:txBody>
      </p:sp>
      <p:sp>
        <p:nvSpPr>
          <p:cNvPr id="4" name="椭圆形标注 3"/>
          <p:cNvSpPr/>
          <p:nvPr/>
        </p:nvSpPr>
        <p:spPr>
          <a:xfrm>
            <a:off x="5940152" y="134274"/>
            <a:ext cx="2520280" cy="1224136"/>
          </a:xfrm>
          <a:prstGeom prst="wedgeEllipseCallout">
            <a:avLst>
              <a:gd name="adj1" fmla="val 31852"/>
              <a:gd name="adj2" fmla="val 8214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70C0"/>
                </a:solidFill>
              </a:rPr>
              <a:t>提前精读</a:t>
            </a:r>
            <a:r>
              <a:rPr lang="en-US" altLang="zh-CN" dirty="0" err="1">
                <a:solidFill>
                  <a:srgbClr val="0070C0"/>
                </a:solidFill>
              </a:rPr>
              <a:t>SVMguide</a:t>
            </a:r>
            <a:r>
              <a:rPr lang="zh-CN" altLang="en-US" dirty="0">
                <a:solidFill>
                  <a:srgbClr val="0070C0"/>
                </a:solidFill>
              </a:rPr>
              <a:t>文档！！！</a:t>
            </a:r>
            <a:endParaRPr lang="zh-CN" altLang="en-US" dirty="0">
              <a:solidFill>
                <a:srgbClr val="0070C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38" y="3540394"/>
            <a:ext cx="2939591" cy="235167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335" y="3527570"/>
            <a:ext cx="3000328" cy="2364497"/>
          </a:xfrm>
          <a:prstGeom prst="rect">
            <a:avLst/>
          </a:prstGeom>
        </p:spPr>
      </p:pic>
      <p:sp>
        <p:nvSpPr>
          <p:cNvPr id="10" name="椭圆形标注 9"/>
          <p:cNvSpPr/>
          <p:nvPr/>
        </p:nvSpPr>
        <p:spPr>
          <a:xfrm>
            <a:off x="5867573" y="1452916"/>
            <a:ext cx="2520280" cy="1224136"/>
          </a:xfrm>
          <a:prstGeom prst="wedgeEllipseCallout">
            <a:avLst>
              <a:gd name="adj1" fmla="val 31852"/>
              <a:gd name="adj2" fmla="val 8214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70C0"/>
                </a:solidFill>
              </a:rPr>
              <a:t>数据格式请见</a:t>
            </a:r>
            <a:r>
              <a:rPr lang="en-US" altLang="zh-CN" dirty="0">
                <a:solidFill>
                  <a:srgbClr val="0070C0"/>
                </a:solidFill>
              </a:rPr>
              <a:t>Readme</a:t>
            </a:r>
            <a:r>
              <a:rPr lang="zh-CN" altLang="en-US" dirty="0">
                <a:solidFill>
                  <a:srgbClr val="0070C0"/>
                </a:solidFill>
              </a:rPr>
              <a:t>文档！！！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1115" y="58920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正样本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126929" y="593889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负样本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57200" y="2492896"/>
            <a:ext cx="66479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已知：自己</a:t>
            </a:r>
            <a:r>
              <a:rPr lang="zh-CN" altLang="en-US" sz="2400" dirty="0">
                <a:solidFill>
                  <a:srgbClr val="FF0000"/>
                </a:solidFill>
              </a:rPr>
              <a:t>设计</a:t>
            </a:r>
            <a:r>
              <a:rPr lang="zh-CN" altLang="en-US" sz="2400" dirty="0"/>
              <a:t>二维的线性</a:t>
            </a:r>
            <a:r>
              <a:rPr lang="zh-CN" altLang="en-US" sz="2400" dirty="0">
                <a:solidFill>
                  <a:srgbClr val="00B050"/>
                </a:solidFill>
              </a:rPr>
              <a:t>可分</a:t>
            </a:r>
            <a:r>
              <a:rPr lang="zh-CN" altLang="en-US" sz="2400" dirty="0"/>
              <a:t>和</a:t>
            </a:r>
            <a:r>
              <a:rPr lang="zh-CN" altLang="en-US" sz="2400" dirty="0">
                <a:solidFill>
                  <a:srgbClr val="00B050"/>
                </a:solidFill>
              </a:rPr>
              <a:t>不可分</a:t>
            </a:r>
            <a:r>
              <a:rPr lang="zh-CN" altLang="en-US" sz="2400" dirty="0">
                <a:solidFill>
                  <a:srgbClr val="FF0000"/>
                </a:solidFill>
              </a:rPr>
              <a:t>样本集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zh-CN" sz="2400" dirty="0">
                <a:solidFill>
                  <a:srgbClr val="FF0000"/>
                </a:solidFill>
              </a:rPr>
              <a:t>          </a:t>
            </a:r>
            <a:r>
              <a:rPr lang="en-US" altLang="zh-CN" sz="2400" dirty="0"/>
              <a:t>(</a:t>
            </a:r>
            <a:r>
              <a:rPr lang="zh-CN" altLang="en-US" sz="2400" dirty="0"/>
              <a:t>每种情况总样本数不少于</a:t>
            </a:r>
            <a:r>
              <a:rPr lang="en-US" altLang="zh-CN" sz="2400" dirty="0"/>
              <a:t>60)</a:t>
            </a:r>
            <a:endParaRPr lang="en-US" altLang="zh-CN" sz="2400" dirty="0"/>
          </a:p>
          <a:p>
            <a:r>
              <a:rPr lang="zh-CN" altLang="en-US" sz="2400" dirty="0"/>
              <a:t>要求：用</a:t>
            </a:r>
            <a:r>
              <a:rPr lang="en-US" altLang="zh-CN" sz="2400" dirty="0" err="1">
                <a:solidFill>
                  <a:schemeClr val="tx2"/>
                </a:solidFill>
              </a:rPr>
              <a:t>libsvm</a:t>
            </a:r>
            <a:r>
              <a:rPr lang="zh-CN" altLang="en-US" sz="2400" dirty="0">
                <a:solidFill>
                  <a:schemeClr val="tx2"/>
                </a:solidFill>
              </a:rPr>
              <a:t>工具箱</a:t>
            </a:r>
            <a:r>
              <a:rPr lang="zh-CN" altLang="en-US" sz="2400" dirty="0"/>
              <a:t>训练</a:t>
            </a:r>
            <a:r>
              <a:rPr lang="en-US" altLang="zh-CN" sz="2400" dirty="0"/>
              <a:t>SVM</a:t>
            </a:r>
            <a:r>
              <a:rPr lang="zh-CN" altLang="en-US" sz="2400" dirty="0"/>
              <a:t>模型</a:t>
            </a:r>
            <a:endParaRPr lang="en-US" altLang="zh-CN" sz="2400" dirty="0"/>
          </a:p>
          <a:p>
            <a:r>
              <a:rPr lang="en-US" altLang="zh-CN" sz="2400" dirty="0"/>
              <a:t>           </a:t>
            </a:r>
            <a:r>
              <a:rPr lang="zh-CN" altLang="en-US" sz="2400" dirty="0"/>
              <a:t>将最终分类面、</a:t>
            </a:r>
            <a:r>
              <a:rPr lang="en-US" altLang="zh-CN" sz="2400" dirty="0"/>
              <a:t>margin</a:t>
            </a:r>
            <a:r>
              <a:rPr lang="zh-CN" altLang="en-US" sz="2400" dirty="0"/>
              <a:t>、</a:t>
            </a:r>
            <a:r>
              <a:rPr lang="en-US" altLang="zh-CN" sz="2400" dirty="0"/>
              <a:t>SV</a:t>
            </a:r>
            <a:r>
              <a:rPr lang="zh-CN" altLang="en-US" sz="2400" dirty="0"/>
              <a:t>等可视化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>
                <a:solidFill>
                  <a:srgbClr val="FF0000"/>
                </a:solidFill>
              </a:rPr>
              <a:t>                 该结果不需要上传至网站</a:t>
            </a:r>
            <a:r>
              <a:rPr lang="zh-CN" altLang="en-US" sz="2400" dirty="0"/>
              <a:t>！</a:t>
            </a:r>
            <a:endParaRPr lang="en-US" altLang="zh-CN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356541" y="915482"/>
            <a:ext cx="13644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任务</a:t>
            </a:r>
            <a:r>
              <a:rPr lang="en-US" altLang="zh-CN" sz="3600" dirty="0">
                <a:solidFill>
                  <a:srgbClr val="FF0000"/>
                </a:solidFill>
              </a:rPr>
              <a:t>2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907704" y="115570"/>
            <a:ext cx="8003232" cy="1371600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基于</a:t>
            </a:r>
            <a:r>
              <a:rPr lang="en-US" altLang="zh-CN" sz="2400" dirty="0" err="1"/>
              <a:t>libsvm</a:t>
            </a:r>
            <a:r>
              <a:rPr lang="zh-CN" altLang="en-US" sz="2400" dirty="0"/>
              <a:t>的自行设计样本分类的可视化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457200" y="6300028"/>
            <a:ext cx="4718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tx2"/>
                </a:solidFill>
                <a:hlinkClick r:id="rId1"/>
              </a:rPr>
              <a:t>Ref: http://www.csie.ntu.edu.tw/~cjlin/libsvm/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2" y="2707149"/>
            <a:ext cx="8337897" cy="373700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67360" y="997585"/>
            <a:ext cx="829183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/>
              <a:t>内网址：</a:t>
            </a:r>
            <a:r>
              <a:rPr lang="en-US" altLang="zh-CN" sz="2800" dirty="0"/>
              <a:t>http://pr.204111.xyz/</a:t>
            </a:r>
            <a:endParaRPr lang="en-US" altLang="zh-CN" sz="2800" dirty="0"/>
          </a:p>
          <a:p>
            <a:r>
              <a:rPr lang="zh-CN" altLang="en-US" sz="2800" dirty="0"/>
              <a:t>公网址：</a:t>
            </a:r>
            <a:r>
              <a:rPr lang="en-US" altLang="zh-CN" sz="2800" dirty="0"/>
              <a:t>https://pr-vpn.204111.xyz/</a:t>
            </a:r>
            <a:endParaRPr lang="en-US" altLang="zh-CN" sz="2800" dirty="0"/>
          </a:p>
          <a:p>
            <a:r>
              <a:rPr lang="zh-CN" altLang="en-US" sz="2800" dirty="0"/>
              <a:t>推荐使用浏览器：</a:t>
            </a:r>
            <a:r>
              <a:rPr lang="en-US" altLang="zh-CN" sz="2800" dirty="0"/>
              <a:t>Google Chrome</a:t>
            </a:r>
            <a:endParaRPr lang="zh-CN" altLang="en-US" sz="2800" dirty="0"/>
          </a:p>
        </p:txBody>
      </p:sp>
      <p:sp>
        <p:nvSpPr>
          <p:cNvPr id="11" name="TextBox 1"/>
          <p:cNvSpPr txBox="1"/>
          <p:nvPr/>
        </p:nvSpPr>
        <p:spPr>
          <a:xfrm>
            <a:off x="611560" y="363493"/>
            <a:ext cx="4154984" cy="495007"/>
          </a:xfrm>
          <a:prstGeom prst="rect">
            <a:avLst/>
          </a:prstGeom>
          <a:noFill/>
        </p:spPr>
        <p:txBody>
          <a:bodyPr wrap="none" lIns="0" tIns="0" rIns="0" rtlCol="0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3600" dirty="0" err="1">
                <a:solidFill>
                  <a:srgbClr val="D128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大作业</a:t>
            </a:r>
            <a:r>
              <a:rPr lang="zh-CN" altLang="en-US" sz="3600" dirty="0">
                <a:solidFill>
                  <a:srgbClr val="D128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三网站</a:t>
            </a:r>
            <a:r>
              <a:rPr lang="en-US" altLang="zh-CN" sz="3600" dirty="0" err="1">
                <a:solidFill>
                  <a:srgbClr val="D128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主界面</a:t>
            </a:r>
            <a:endParaRPr lang="en-US" altLang="zh-CN" sz="3600" dirty="0">
              <a:solidFill>
                <a:srgbClr val="D128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"/>
          <p:cNvSpPr txBox="1"/>
          <p:nvPr/>
        </p:nvSpPr>
        <p:spPr>
          <a:xfrm>
            <a:off x="4228028" y="3848684"/>
            <a:ext cx="1276350" cy="237490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595" b="1" dirty="0">
                <a:solidFill>
                  <a:srgbClr val="F796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主要功能</a:t>
            </a:r>
            <a:endParaRPr lang="en-US" altLang="zh-CN" sz="1595" b="1" dirty="0">
              <a:solidFill>
                <a:srgbClr val="F796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"/>
          <p:cNvSpPr txBox="1"/>
          <p:nvPr/>
        </p:nvSpPr>
        <p:spPr>
          <a:xfrm>
            <a:off x="7470973" y="3950284"/>
            <a:ext cx="905510" cy="298159"/>
          </a:xfrm>
          <a:prstGeom prst="rect">
            <a:avLst/>
          </a:prstGeom>
          <a:noFill/>
        </p:spPr>
        <p:txBody>
          <a:bodyPr wrap="square" lIns="0" tIns="0" rIns="0" rtlCol="0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595" b="1" dirty="0">
                <a:solidFill>
                  <a:srgbClr val="F796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登录</a:t>
            </a:r>
            <a:r>
              <a:rPr lang="en-US" altLang="zh-CN" sz="1595" b="1" dirty="0">
                <a:solidFill>
                  <a:srgbClr val="F79646"/>
                </a:solidFill>
                <a:latin typeface="Calibri" panose="020F0502020204030204" charset="0"/>
                <a:cs typeface="Calibri" panose="020F0502020204030204" charset="0"/>
              </a:rPr>
              <a:t>/</a:t>
            </a:r>
            <a:r>
              <a:rPr lang="en-US" altLang="zh-CN" sz="1595" b="1" dirty="0">
                <a:solidFill>
                  <a:srgbClr val="F796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激活</a:t>
            </a:r>
            <a:endParaRPr lang="en-US" altLang="zh-CN" sz="1595" b="1" dirty="0">
              <a:solidFill>
                <a:srgbClr val="F7964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3491880" y="3162884"/>
            <a:ext cx="3915593" cy="0"/>
          </a:xfrm>
          <a:prstGeom prst="line">
            <a:avLst/>
          </a:prstGeom>
          <a:ln w="41275"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4798893" y="3315284"/>
            <a:ext cx="246380" cy="368300"/>
          </a:xfrm>
          <a:prstGeom prst="straightConnector1">
            <a:avLst/>
          </a:prstGeom>
          <a:ln w="412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7894518" y="3315284"/>
            <a:ext cx="46355" cy="533400"/>
          </a:xfrm>
          <a:prstGeom prst="straightConnector1">
            <a:avLst/>
          </a:prstGeom>
          <a:ln w="412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13993" y="82966"/>
            <a:ext cx="9783369" cy="1137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首次登陆操作顺序：用户</a:t>
            </a:r>
            <a:r>
              <a:rPr lang="zh-CN" altLang="en-US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注册</a:t>
            </a:r>
            <a:r>
              <a:rPr lang="en-US" altLang="zh-CN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—&gt;</a:t>
            </a:r>
            <a:r>
              <a:rPr lang="zh-CN" altLang="zh-CN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设置队伍信息</a:t>
            </a:r>
            <a:r>
              <a:rPr lang="en-US" altLang="zh-CN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—&gt;</a:t>
            </a:r>
            <a:r>
              <a:rPr lang="zh-CN" altLang="en-US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登陆</a:t>
            </a:r>
            <a:endParaRPr lang="zh-CN" altLang="zh-CN" sz="2400" kern="100" dirty="0">
              <a:solidFill>
                <a:srgbClr val="FF0000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400" kern="100" dirty="0">
                <a:solidFill>
                  <a:srgbClr val="FF0000"/>
                </a:solidFill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</a:rPr>
              <a:t>队伍不可以更改，信息填定后不可以更改。</a:t>
            </a:r>
            <a:endParaRPr lang="zh-CN" altLang="zh-CN" sz="2400" kern="100" dirty="0">
              <a:solidFill>
                <a:srgbClr val="FF0000"/>
              </a:solidFill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79970" y="6308725"/>
            <a:ext cx="288290" cy="216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" y="1340485"/>
            <a:ext cx="5854700" cy="5347335"/>
          </a:xfrm>
          <a:prstGeom prst="rect">
            <a:avLst/>
          </a:prstGeom>
        </p:spPr>
      </p:pic>
      <p:graphicFrame>
        <p:nvGraphicFramePr>
          <p:cNvPr id="11" name="对象 10"/>
          <p:cNvGraphicFramePr/>
          <p:nvPr/>
        </p:nvGraphicFramePr>
        <p:xfrm>
          <a:off x="6261100" y="1700530"/>
          <a:ext cx="2526030" cy="392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2" imgW="2524125" imgH="3924300" progId="Paint.Picture">
                  <p:embed/>
                </p:oleObj>
              </mc:Choice>
              <mc:Fallback>
                <p:oleObj name="" r:id="rId2" imgW="2524125" imgH="3924300" progId="Paint.Picture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261100" y="1700530"/>
                        <a:ext cx="2526030" cy="392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432158" y="627275"/>
            <a:ext cx="7499176" cy="13716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 cap="all" spc="-6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/>
              <a:t>功能模块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432158" y="1580503"/>
            <a:ext cx="7823032" cy="2790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任务介绍：     请仔细阅读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提交说明：    </a:t>
            </a:r>
            <a:r>
              <a:rPr lang="en-US" altLang="zh-CN" sz="2400" dirty="0"/>
              <a:t>.txt</a:t>
            </a:r>
            <a:r>
              <a:rPr lang="zh-CN" altLang="en-US" sz="2400" dirty="0"/>
              <a:t>文件格式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数据集下载：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最新排名：    </a:t>
            </a:r>
            <a:r>
              <a:rPr lang="zh-CN" altLang="zh-CN" sz="2400" dirty="0"/>
              <a:t>对已经激活的队伍提供实时排名</a:t>
            </a:r>
            <a:r>
              <a:rPr lang="zh-CN" altLang="en-US" sz="2400" dirty="0"/>
              <a:t>，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               </a:t>
            </a:r>
            <a:r>
              <a:rPr lang="zh-CN" altLang="en-US" sz="2400" dirty="0"/>
              <a:t>排名依据总的正确率 </a:t>
            </a:r>
            <a:endParaRPr lang="zh-CN" altLang="en-US" sz="2400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584190" y="5108895"/>
          <a:ext cx="3518967" cy="768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9" name="Equation" r:id="rId1" imgW="46024800" imgH="10058400" progId="Equation.DSMT4">
                  <p:embed/>
                </p:oleObj>
              </mc:Choice>
              <mc:Fallback>
                <p:oleObj name="Equation" r:id="rId1" imgW="46024800" imgH="10058400" progId="Equation.DSMT4">
                  <p:embed/>
                  <p:pic>
                    <p:nvPicPr>
                      <p:cNvPr id="0" name="对象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84190" y="5108895"/>
                        <a:ext cx="3518967" cy="7683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l="10544" r="4932"/>
          <a:stretch>
            <a:fillRect/>
          </a:stretch>
        </p:blipFill>
        <p:spPr>
          <a:xfrm>
            <a:off x="2712619" y="2780928"/>
            <a:ext cx="5544616" cy="572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544" y="1196752"/>
            <a:ext cx="7884368" cy="391254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79512" y="54868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提交格式说明：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55" y="4797152"/>
            <a:ext cx="3261643" cy="1874682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Y2NzkxOGJjNGFkNzFiZWJmMTE5NTMyNGI3ZDNjZGQifQ=="/>
  <p:tag name="KSO_WPP_MARK_KEY" val="51db7df5-aa4f-4363-a5d7-1de920cdeecd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0</TotalTime>
  <Words>974</Words>
  <Application>WPS 演示</Application>
  <PresentationFormat>全屏显示(4:3)</PresentationFormat>
  <Paragraphs>78</Paragraphs>
  <Slides>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Times New Roman</vt:lpstr>
      <vt:lpstr>Calibri</vt:lpstr>
      <vt:lpstr>微软雅黑</vt:lpstr>
      <vt:lpstr>Arial Black</vt:lpstr>
      <vt:lpstr>黑体</vt:lpstr>
      <vt:lpstr>Arial Unicode MS</vt:lpstr>
      <vt:lpstr>等线</vt:lpstr>
      <vt:lpstr>基本</vt:lpstr>
      <vt:lpstr>Paint.Picture</vt:lpstr>
      <vt:lpstr>Equation.DSMT4</vt:lpstr>
      <vt:lpstr>PowerPoint 演示文稿</vt:lpstr>
      <vt:lpstr>PowerPoint 演示文稿</vt:lpstr>
      <vt:lpstr>任务1：人脸or非人脸？</vt:lpstr>
      <vt:lpstr>基于libsvm的自行设计样本分类的可视化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周雪</cp:lastModifiedBy>
  <cp:revision>322</cp:revision>
  <dcterms:created xsi:type="dcterms:W3CDTF">2014-08-29T08:50:00Z</dcterms:created>
  <dcterms:modified xsi:type="dcterms:W3CDTF">2026-04-14T12:43:21Z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AE85B991E7864C93892F2A24515D46CC_12</vt:lpwstr>
  </property>
  <property fmtid="{D5CDD505-2E9C-101B-9397-08002B2CF9AE}" pid="3" name="KSOProductBuildVer">
    <vt:lpwstr>2052-12.1.0.25225</vt:lpwstr>
  </property>
</Properties>
</file>
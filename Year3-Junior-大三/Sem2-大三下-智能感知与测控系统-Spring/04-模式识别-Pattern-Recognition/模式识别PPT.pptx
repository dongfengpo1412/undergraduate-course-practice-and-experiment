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446" r:id="rId2"/>
    <p:sldId id="469" r:id="rId3"/>
    <p:sldId id="470" r:id="rId4"/>
    <p:sldId id="471" r:id="rId5"/>
    <p:sldId id="396" r:id="rId6"/>
    <p:sldId id="472" r:id="rId7"/>
    <p:sldId id="390" r:id="rId8"/>
    <p:sldId id="473" r:id="rId9"/>
    <p:sldId id="474" r:id="rId10"/>
    <p:sldId id="44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51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5E8A4-1712-46CC-A4FA-762128F4DA7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66229-F215-4686-9A4A-B0813F3F5C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03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57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B915-2F0F-2853-BB68-385EF6071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A89ABF-D8EE-8C89-3CE2-AADBAC6D8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BC833E-C7D5-4E8F-56B3-ACD99C6CC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894AC-B3FA-7C1B-353C-B1A6F685C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66229-F215-4686-9A4A-B0813F3F5CE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5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FA9D-C3D6-8ECF-1CEB-19A88F6B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1BED29-D547-9C91-8579-CA6BC634D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A6A303-FB07-DD86-2F95-A0C5FE4E2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DAE1B6-AE7C-B8EE-A0A7-370435639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66229-F215-4686-9A4A-B0813F3F5CE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52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6CF2-C6CD-B159-5B02-205B9266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ED2E7C-F480-100A-2875-F80B10644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C6AEC-315C-E07C-D1D3-DB3CBDBC6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EAB87-2BA6-C3D7-40A8-5F28B8AD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66229-F215-4686-9A4A-B0813F3F5C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88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B4BF-077D-903B-4573-A51ED279D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59D5A4-1248-5808-3AF4-3AE5C93F4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04CD62-07D3-AC21-ED1F-E94185F42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85324-6B9F-10EE-7941-D3412854F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66229-F215-4686-9A4A-B0813F3F5CE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285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F4897-DF6E-A403-EC89-03493AE1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ECEC1C-6AB8-BAC4-E100-534BF47DF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8A4AD9-0B9D-6989-02E6-70DBFCCE0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C45206-7116-7FD7-647C-131D032A2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66229-F215-4686-9A4A-B0813F3F5CE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001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2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85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0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51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02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7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48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6647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6">
            <a:extLst>
              <a:ext uri="{FF2B5EF4-FFF2-40B4-BE49-F238E27FC236}">
                <a16:creationId xmlns:a16="http://schemas.microsoft.com/office/drawing/2014/main" id="{3860CC1F-67B2-487D-AAF4-22986DB3FB2E}"/>
              </a:ext>
            </a:extLst>
          </p:cNvPr>
          <p:cNvSpPr txBox="1"/>
          <p:nvPr/>
        </p:nvSpPr>
        <p:spPr>
          <a:xfrm>
            <a:off x="2311647" y="3641768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成员：田峻硕  刘超然  陈政润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BEAD35-CCF1-4AE9-A8F7-A17F28D16F3A}"/>
              </a:ext>
            </a:extLst>
          </p:cNvPr>
          <p:cNvSpPr/>
          <p:nvPr/>
        </p:nvSpPr>
        <p:spPr>
          <a:xfrm>
            <a:off x="652090" y="2705934"/>
            <a:ext cx="103284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1219170">
              <a:defRPr/>
            </a:pPr>
            <a:r>
              <a:rPr lang="zh-CN" altLang="en-US" sz="4800" b="1" spc="400" dirty="0">
                <a:solidFill>
                  <a:srgbClr val="000000">
                    <a:lumMod val="65000"/>
                    <a:lumOff val="35000"/>
                  </a:srgbClr>
                </a:solidFill>
                <a:cs typeface="+mn-ea"/>
                <a:sym typeface="+mn-lt"/>
              </a:rPr>
              <a:t>二维正态分布贝叶斯决策面可视化</a:t>
            </a:r>
            <a:endParaRPr kumimoji="0" lang="zh-CN" altLang="en-US" sz="4800" b="1" i="0" u="none" strike="noStrike" kern="1200" cap="none" spc="40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9812351-1D8B-4096-B067-C1161FBF2107}"/>
              </a:ext>
            </a:extLst>
          </p:cNvPr>
          <p:cNvSpPr/>
          <p:nvPr/>
        </p:nvSpPr>
        <p:spPr>
          <a:xfrm rot="18932100">
            <a:off x="6898898" y="-3090723"/>
            <a:ext cx="5051305" cy="5051305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E98E0E8-560D-4C7C-B4C7-601F790AC01C}"/>
              </a:ext>
            </a:extLst>
          </p:cNvPr>
          <p:cNvSpPr/>
          <p:nvPr/>
        </p:nvSpPr>
        <p:spPr>
          <a:xfrm rot="18958199">
            <a:off x="10979399" y="4155207"/>
            <a:ext cx="2416461" cy="241646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A0532D0-C157-4B54-A4F4-C7746F4FEED9}"/>
              </a:ext>
            </a:extLst>
          </p:cNvPr>
          <p:cNvSpPr/>
          <p:nvPr/>
        </p:nvSpPr>
        <p:spPr>
          <a:xfrm rot="18958199">
            <a:off x="9362746" y="3686914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DCDC5953-4481-488D-B130-6C383D6F3DB9}"/>
              </a:ext>
            </a:extLst>
          </p:cNvPr>
          <p:cNvSpPr/>
          <p:nvPr/>
        </p:nvSpPr>
        <p:spPr>
          <a:xfrm rot="18958199">
            <a:off x="10844604" y="226155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91E0EB6-FC66-4DB0-A4E7-52899D503FAD}"/>
              </a:ext>
            </a:extLst>
          </p:cNvPr>
          <p:cNvSpPr/>
          <p:nvPr/>
        </p:nvSpPr>
        <p:spPr>
          <a:xfrm rot="18932100">
            <a:off x="-397864" y="5036713"/>
            <a:ext cx="5748920" cy="5748920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99ED593-7DE7-41AB-83AB-C67C840702B5}"/>
              </a:ext>
            </a:extLst>
          </p:cNvPr>
          <p:cNvSpPr/>
          <p:nvPr/>
        </p:nvSpPr>
        <p:spPr>
          <a:xfrm rot="18958199">
            <a:off x="6646784" y="4697134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E9A17F5-5639-42CA-8230-4924A1FC5289}"/>
              </a:ext>
            </a:extLst>
          </p:cNvPr>
          <p:cNvSpPr/>
          <p:nvPr/>
        </p:nvSpPr>
        <p:spPr>
          <a:xfrm rot="18958199">
            <a:off x="8748720" y="5185909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278" y="871467"/>
            <a:ext cx="1532662" cy="152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16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8" presetID="2" presetClass="entr" presetSubtype="3" fill="hold" grpId="0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9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2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3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8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4C3C-22DE-16EB-4F5B-24113447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1">
            <a:extLst>
              <a:ext uri="{FF2B5EF4-FFF2-40B4-BE49-F238E27FC236}">
                <a16:creationId xmlns:a16="http://schemas.microsoft.com/office/drawing/2014/main" id="{E44AEB6A-696D-AE9E-6C30-3EF919FA6A96}"/>
              </a:ext>
            </a:extLst>
          </p:cNvPr>
          <p:cNvSpPr txBox="1"/>
          <p:nvPr/>
        </p:nvSpPr>
        <p:spPr>
          <a:xfrm>
            <a:off x="4118635" y="706375"/>
            <a:ext cx="3954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贝叶斯决策理论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C4FB1554-10DC-1448-013E-8AE5BBAC4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056" y="1472791"/>
                <a:ext cx="11385886" cy="39124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 </a:t>
                </a: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内容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根本目标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：求出给定样本 </a:t>
                </a:r>
                <a14:m>
                  <m:oMath xmlns:m="http://schemas.openxmlformats.org/officeDocument/2006/math">
                    <m:r>
                      <a:rPr kumimoji="0" lang="zh-CN" altLang="zh-CN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𝑥</m:t>
                    </m:r>
                  </m:oMath>
                </a14:m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时，它属于类别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zh-CN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𝜔</m:t>
                        </m:r>
                      </m:e>
                      <m:sub>
                        <m:r>
                          <a:rPr kumimoji="0" lang="zh-CN" altLang="zh-CN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的后验概率 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后验概率公式 (Bayes' Theorem)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：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C4FB1554-10DC-1448-013E-8AE5BBAC4D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056" y="1472791"/>
                <a:ext cx="11385886" cy="3912418"/>
              </a:xfrm>
              <a:prstGeom prst="rect">
                <a:avLst/>
              </a:prstGeom>
              <a:blipFill>
                <a:blip r:embed="rId3"/>
                <a:stretch>
                  <a:fillRect l="-1231" r="-5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95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22E6-4656-EABB-B2DF-C27FDC841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1">
            <a:extLst>
              <a:ext uri="{FF2B5EF4-FFF2-40B4-BE49-F238E27FC236}">
                <a16:creationId xmlns:a16="http://schemas.microsoft.com/office/drawing/2014/main" id="{FDDD33B6-171A-2F30-C5EF-3FF151AA968D}"/>
              </a:ext>
            </a:extLst>
          </p:cNvPr>
          <p:cNvSpPr txBox="1"/>
          <p:nvPr/>
        </p:nvSpPr>
        <p:spPr>
          <a:xfrm>
            <a:off x="4118635" y="706375"/>
            <a:ext cx="3954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数据分布模型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4106021-0823-8583-0F72-0E1F3B262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116" y="1414261"/>
                <a:ext cx="11339765" cy="4751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 </a:t>
                </a: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内容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zh-CN" altLang="en-US" sz="3200" b="1" dirty="0">
                    <a:latin typeface="Arial" panose="020B0604020202020204" pitchFamily="34" charset="0"/>
                    <a:ea typeface="Google Sans Text"/>
                  </a:rPr>
                  <a:t> 假设类条件概率服从 </a:t>
                </a:r>
                <a:r>
                  <a:rPr lang="en-US" altLang="zh-CN" sz="3200" b="1" dirty="0">
                    <a:latin typeface="Arial" panose="020B0604020202020204" pitchFamily="34" charset="0"/>
                    <a:ea typeface="Google Sans Text"/>
                  </a:rPr>
                  <a:t>d </a:t>
                </a:r>
                <a:r>
                  <a:rPr lang="zh-CN" altLang="en-US" sz="3200" b="1" dirty="0">
                    <a:latin typeface="Arial" panose="020B0604020202020204" pitchFamily="34" charset="0"/>
                    <a:ea typeface="Google Sans Text"/>
                  </a:rPr>
                  <a:t>维正态分布 ：</a:t>
                </a:r>
                <a:endParaRPr lang="en-US" altLang="zh-CN" sz="3200" b="1" dirty="0">
                  <a:latin typeface="Arial" panose="020B0604020202020204" pitchFamily="34" charset="0"/>
                  <a:ea typeface="Google Sans Text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3200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en-US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协方差矩阵定义 ：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zh-CN" sz="3200" dirty="0"/>
              </a:p>
              <a:p>
                <a:pPr>
                  <a:lnSpc>
                    <a:spcPct val="150000"/>
                  </a:lnSpc>
                </a:pPr>
                <a:endParaRPr lang="zh-CN" altLang="zh-CN" dirty="0"/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54106021-0823-8583-0F72-0E1F3B26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116" y="1414261"/>
                <a:ext cx="11339765" cy="4751557"/>
              </a:xfrm>
              <a:prstGeom prst="rect">
                <a:avLst/>
              </a:prstGeom>
              <a:blipFill>
                <a:blip r:embed="rId3"/>
                <a:stretch>
                  <a:fillRect l="-12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98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3D2D-EB80-2B1D-038B-7D7624AD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1">
            <a:extLst>
              <a:ext uri="{FF2B5EF4-FFF2-40B4-BE49-F238E27FC236}">
                <a16:creationId xmlns:a16="http://schemas.microsoft.com/office/drawing/2014/main" id="{AB378D11-4554-C02A-B9C3-82D70F849499}"/>
              </a:ext>
            </a:extLst>
          </p:cNvPr>
          <p:cNvSpPr txBox="1"/>
          <p:nvPr/>
        </p:nvSpPr>
        <p:spPr>
          <a:xfrm>
            <a:off x="3757775" y="706375"/>
            <a:ext cx="4676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判别函数降维推导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D5FC436-FB08-4A65-FBF3-710091847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159" y="1606417"/>
                <a:ext cx="11689681" cy="3645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 </a:t>
                </a:r>
                <a:r>
                  <a:rPr kumimoji="0" lang="zh-CN" altLang="zh-CN" sz="3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内容</a:t>
                </a:r>
                <a:r>
                  <a:rPr kumimoji="0" lang="zh-CN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  <a:endParaRPr kumimoji="0" lang="zh-CN" altLang="zh-CN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zh-CN" altLang="en-US" sz="3200" b="1" dirty="0">
                    <a:latin typeface="Arial" panose="020B0604020202020204" pitchFamily="34" charset="0"/>
                    <a:ea typeface="Google Sans Text"/>
                  </a:rPr>
                  <a:t> 为了消除指数计算并简化比较，对 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Google Sans Text"/>
                      </a:rPr>
                      <m:t>𝒑</m:t>
                    </m:r>
                    <m:d>
                      <m:d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r>
                          <a:rPr lang="en-US" altLang="zh-CN" sz="3200" b="1" i="1" dirty="0" smtClean="0">
                            <a:latin typeface="Cambria Math" panose="02040503050406030204" pitchFamily="18" charset="0"/>
                            <a:ea typeface="Google Sans Text"/>
                          </a:rPr>
                          <m:t>𝒙</m:t>
                        </m:r>
                      </m:e>
                      <m:e>
                        <m:sSub>
                          <m:sSubPr>
                            <m:ctrlPr>
                              <a:rPr lang="en-US" altLang="zh-CN" sz="3200" b="1" i="1" dirty="0" err="1" smtClean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3200" b="1" i="1" dirty="0" err="1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3200" b="1" i="1" dirty="0" smtClean="0">
                        <a:latin typeface="Cambria Math" panose="02040503050406030204" pitchFamily="18" charset="0"/>
                        <a:ea typeface="Google Sans Text"/>
                      </a:rPr>
                      <m:t>𝑷</m:t>
                    </m:r>
                    <m:d>
                      <m:d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dirty="0" err="1" smtClean="0"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sSubPr>
                          <m:e>
                            <m:r>
                              <a:rPr lang="en-US" altLang="zh-CN" sz="3200" b="1" i="1" dirty="0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sz="3200" b="1" i="1" dirty="0" err="1" smtClean="0">
                                <a:latin typeface="Cambria Math" panose="02040503050406030204" pitchFamily="18" charset="0"/>
                                <a:ea typeface="Google Sans Text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200" b="1" dirty="0"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lang="zh-CN" altLang="en-US" sz="3200" b="1" dirty="0">
                    <a:latin typeface="Arial" panose="020B0604020202020204" pitchFamily="34" charset="0"/>
                    <a:ea typeface="Google Sans Text"/>
                  </a:rPr>
                  <a:t>取自然对数，构建广义对数判别函数 ：</a:t>
                </a:r>
                <a:endParaRPr lang="en-US" altLang="zh-CN" sz="3200" b="1" dirty="0">
                  <a:latin typeface="Arial" panose="020B0604020202020204" pitchFamily="34" charset="0"/>
                  <a:ea typeface="Google Sans Text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d>
                        <m:d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zh-CN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3200" dirty="0"/>
              </a:p>
            </p:txBody>
          </p:sp>
        </mc:Choice>
        <mc:Fallback xmlns="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D5FC436-FB08-4A65-FBF3-710091847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159" y="1606417"/>
                <a:ext cx="11689681" cy="3645165"/>
              </a:xfrm>
              <a:prstGeom prst="rect">
                <a:avLst/>
              </a:prstGeom>
              <a:blipFill>
                <a:blip r:embed="rId3"/>
                <a:stretch>
                  <a:fillRect l="-1303" r="-13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624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4C949-EA4F-47AE-2A60-152C7285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414C41D-EB31-91D9-25C8-5CBF18E8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885" y="445191"/>
            <a:ext cx="9736230" cy="137160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任务</a:t>
            </a:r>
            <a:r>
              <a:rPr lang="en-US" altLang="zh-CN" sz="3200" b="1" dirty="0">
                <a:solidFill>
                  <a:srgbClr val="0070C0"/>
                </a:solidFill>
              </a:rPr>
              <a:t>1</a:t>
            </a:r>
            <a:r>
              <a:rPr lang="zh-CN" altLang="en-US" sz="3200" b="1" dirty="0">
                <a:solidFill>
                  <a:srgbClr val="0070C0"/>
                </a:solidFill>
              </a:rPr>
              <a:t>：设计两类二维正态分布样本，决策面为线性</a:t>
            </a:r>
            <a:endParaRPr lang="en-US" altLang="zh-CN" sz="3200" b="1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C30146-4C65-064B-7080-8DD05B7322EF}"/>
              </a:ext>
            </a:extLst>
          </p:cNvPr>
          <p:cNvSpPr txBox="1"/>
          <p:nvPr/>
        </p:nvSpPr>
        <p:spPr>
          <a:xfrm>
            <a:off x="765421" y="1622464"/>
            <a:ext cx="10928900" cy="4165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70C0"/>
                </a:solidFill>
              </a:rPr>
              <a:t>已知</a:t>
            </a:r>
            <a:r>
              <a:rPr lang="zh-CN" altLang="en-US" sz="3000" dirty="0"/>
              <a:t>：来自于两类的随机数样本，等先验概率，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en-US" altLang="zh-CN" sz="3000" dirty="0"/>
              <a:t>           </a:t>
            </a:r>
            <a:r>
              <a:rPr lang="zh-CN" altLang="en-US" sz="3000" dirty="0"/>
              <a:t>分别满足二维正态分布，协方差分别满足下列两种情况：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endParaRPr lang="en-US" altLang="zh-CN" sz="3000" dirty="0"/>
          </a:p>
          <a:p>
            <a:pPr>
              <a:lnSpc>
                <a:spcPct val="150000"/>
              </a:lnSpc>
            </a:pP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zh-CN" altLang="en-US" sz="3000" b="1" dirty="0">
                <a:solidFill>
                  <a:srgbClr val="0070C0"/>
                </a:solidFill>
              </a:rPr>
              <a:t>要求</a:t>
            </a:r>
            <a:r>
              <a:rPr lang="zh-CN" altLang="en-US" sz="3000" dirty="0"/>
              <a:t>：针对上述两种情况，分别画出样本集</a:t>
            </a:r>
            <a:r>
              <a:rPr lang="en-US" altLang="zh-CN" sz="3000" dirty="0"/>
              <a:t>(</a:t>
            </a:r>
            <a:r>
              <a:rPr lang="zh-CN" altLang="en-US" sz="3000" dirty="0"/>
              <a:t>注意区分</a:t>
            </a:r>
            <a:r>
              <a:rPr lang="en-US" altLang="zh-CN" sz="3000" dirty="0"/>
              <a:t>)</a:t>
            </a:r>
            <a:r>
              <a:rPr lang="zh-CN" altLang="en-US" sz="3000" dirty="0"/>
              <a:t>、</a:t>
            </a:r>
            <a:endParaRPr lang="en-US" altLang="zh-CN" sz="3000" dirty="0"/>
          </a:p>
          <a:p>
            <a:pPr>
              <a:lnSpc>
                <a:spcPct val="150000"/>
              </a:lnSpc>
            </a:pPr>
            <a:r>
              <a:rPr lang="en-US" altLang="zh-CN" sz="3000" dirty="0"/>
              <a:t>           </a:t>
            </a:r>
            <a:r>
              <a:rPr lang="zh-CN" altLang="en-US" sz="3000" dirty="0"/>
              <a:t>等密度点轨迹以及分类面</a:t>
            </a:r>
            <a:endParaRPr lang="en-US" altLang="zh-CN" sz="30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CC1B6D-940E-2E48-42A7-C560A0716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361291"/>
              </p:ext>
            </p:extLst>
          </p:nvPr>
        </p:nvGraphicFramePr>
        <p:xfrm>
          <a:off x="4172201" y="3453063"/>
          <a:ext cx="16287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25600" imgH="5791200" progId="Equation.DSMT4">
                  <p:embed/>
                </p:oleObj>
              </mc:Choice>
              <mc:Fallback>
                <p:oleObj name="Equation" r:id="rId2" imgW="14325600" imgH="579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6CC1B6D-940E-2E48-42A7-C560A0716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72201" y="3453063"/>
                        <a:ext cx="1628775" cy="658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8E3E6F5-7BD4-1D49-BB2A-7323B6F74C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081065"/>
              </p:ext>
            </p:extLst>
          </p:nvPr>
        </p:nvGraphicFramePr>
        <p:xfrm>
          <a:off x="6482534" y="3466939"/>
          <a:ext cx="1258788" cy="645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0" imgH="5486400" progId="Equation.DSMT4">
                  <p:embed/>
                </p:oleObj>
              </mc:Choice>
              <mc:Fallback>
                <p:oleObj name="Equation" r:id="rId4" imgW="10668000" imgH="5486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8E3E6F5-7BD4-1D49-BB2A-7323B6F74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2534" y="3466939"/>
                        <a:ext cx="1258788" cy="645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7716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D6DE-86B3-3131-703D-DAD83943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1">
            <a:extLst>
              <a:ext uri="{FF2B5EF4-FFF2-40B4-BE49-F238E27FC236}">
                <a16:creationId xmlns:a16="http://schemas.microsoft.com/office/drawing/2014/main" id="{F366BB22-9AD1-BB90-3967-76F4F7C1DAA7}"/>
              </a:ext>
            </a:extLst>
          </p:cNvPr>
          <p:cNvSpPr txBox="1"/>
          <p:nvPr/>
        </p:nvSpPr>
        <p:spPr>
          <a:xfrm>
            <a:off x="1878887" y="424622"/>
            <a:ext cx="8434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1-A</a:t>
            </a:r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：线性决策面 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各向同性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40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70B133BC-D74C-DE9B-F8A6-BDF9BC24B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652" y="1132508"/>
                <a:ext cx="11345779" cy="5537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核心参数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推导逻辑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协方差</a:t>
                </a:r>
                <a:r>
                  <a:rPr lang="zh-CN" altLang="en-US" sz="2400" dirty="0"/>
                  <a:t>矩阵相等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且为对角阵。</a:t>
                </a: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抵消。</a:t>
                </a: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二次项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展开后变为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，由于各类别该项相同，在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 </m:t>
                        </m:r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𝑔</m:t>
                        </m:r>
                      </m:e>
                      <m:sub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1</m:t>
                        </m:r>
                      </m:sub>
                    </m:sSub>
                    <m:r>
                      <a:rPr kumimoji="0" lang="zh-CN" altLang="zh-CN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− </m:t>
                    </m:r>
                    <m:sSub>
                      <m:sSubPr>
                        <m:ctrlP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𝑔</m:t>
                        </m:r>
                      </m:e>
                      <m:sub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时彻底抵消。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退化后的线性函数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70B133BC-D74C-DE9B-F8A6-BDF9BC24B1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652" y="1132508"/>
                <a:ext cx="11345779" cy="5537350"/>
              </a:xfrm>
              <a:prstGeom prst="rect">
                <a:avLst/>
              </a:prstGeom>
              <a:blipFill>
                <a:blip r:embed="rId3"/>
                <a:stretch>
                  <a:fillRect l="-80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047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1027-D1F8-D5F4-DBB6-B5A36C7C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E0A133B-EB2E-ED40-90A4-F6B9AB7AA9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33" y="190094"/>
            <a:ext cx="6306325" cy="5394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3D34160-BB9F-791E-BBD4-2759C4769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927" y="5837229"/>
                <a:ext cx="10202139" cy="8306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结果分析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：可视化简为标准线性形式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𝑔</m:t>
                        </m:r>
                      </m:e>
                      <m:sub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𝑖</m:t>
                        </m:r>
                        <m:d>
                          <m:dPr>
                            <m:ctrlPr>
                              <a:rPr kumimoji="0" lang="zh-CN" altLang="zh-CN" sz="2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dPr>
                          <m:e>
                            <m:r>
                              <a:rPr kumimoji="0" lang="zh-CN" altLang="zh-CN" sz="2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kumimoji="0" lang="zh-CN" altLang="zh-CN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 </m:t>
                    </m:r>
                    <m:sSubSup>
                      <m:sSubSupPr>
                        <m:ctrlP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SupPr>
                      <m:e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𝑤</m:t>
                        </m:r>
                      </m:e>
                      <m:sub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𝑖</m:t>
                        </m:r>
                      </m:sub>
                      <m:sup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𝑇</m:t>
                        </m:r>
                      </m:sup>
                    </m:sSubSup>
                    <m:r>
                      <a:rPr kumimoji="0" lang="zh-CN" altLang="zh-CN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𝑥</m:t>
                    </m:r>
                    <m:r>
                      <a:rPr kumimoji="0" lang="zh-CN" altLang="zh-CN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 + </m:t>
                    </m:r>
                    <m:sSub>
                      <m:sSubPr>
                        <m:ctrlP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zh-CN" altLang="zh-CN" sz="2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𝑤</m:t>
                        </m:r>
                      </m:e>
                      <m:sub>
                        <m:r>
                          <a:rPr lang="zh-CN" altLang="zh-CN" sz="2400" i="1" dirty="0">
                            <a:latin typeface="Cambria Math" panose="02040503050406030204" pitchFamily="18" charset="0"/>
                            <a:ea typeface="Google Sans Text"/>
                          </a:rPr>
                          <m:t>𝑖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Google Sans Text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。决策面为一条直线，且由于各向同性，直线垂直于均值连线。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3D34160-BB9F-791E-BBD4-2759C47693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4927" y="5837229"/>
                <a:ext cx="10202139" cy="830677"/>
              </a:xfrm>
              <a:prstGeom prst="rect">
                <a:avLst/>
              </a:prstGeom>
              <a:blipFill>
                <a:blip r:embed="rId3"/>
                <a:stretch>
                  <a:fillRect l="-896" t="-8824" r="-478" b="-169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366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74C54-6956-C905-7752-AFA1C74F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1">
            <a:extLst>
              <a:ext uri="{FF2B5EF4-FFF2-40B4-BE49-F238E27FC236}">
                <a16:creationId xmlns:a16="http://schemas.microsoft.com/office/drawing/2014/main" id="{BF5BD985-DE05-F140-7670-3C19A26E5B91}"/>
              </a:ext>
            </a:extLst>
          </p:cNvPr>
          <p:cNvSpPr txBox="1"/>
          <p:nvPr/>
        </p:nvSpPr>
        <p:spPr>
          <a:xfrm>
            <a:off x="953992" y="424622"/>
            <a:ext cx="10284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1-B</a:t>
            </a:r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：线性决策面 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等协方差有相关性</a:t>
            </a:r>
            <a:r>
              <a:rPr lang="en-US" altLang="zh-CN" sz="40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40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70E7DC9-5388-D132-63F6-E1C795444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652" y="1451538"/>
                <a:ext cx="11345779" cy="4899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核心参数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推导逻辑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矩阵包含非对角元素，但两类矩阵完全一致。</a:t>
                </a:r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/>
                  <a:t>依然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抵消。</a:t>
                </a: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二次项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2400"/>
                      <m:t>依然在做差时抵消。</m:t>
                    </m:r>
                  </m:oMath>
                </a14:m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Google Sans Text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退化后的线性函数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70E7DC9-5388-D132-63F6-E1C795444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652" y="1451538"/>
                <a:ext cx="11345779" cy="4899290"/>
              </a:xfrm>
              <a:prstGeom prst="rect">
                <a:avLst/>
              </a:prstGeom>
              <a:blipFill>
                <a:blip r:embed="rId3"/>
                <a:stretch>
                  <a:fillRect l="-69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210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D2ED-217B-129F-A8C3-0ECC823E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3EAB306-6691-78D3-10FA-14D8198ED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4357" y="190094"/>
            <a:ext cx="6303276" cy="5394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3F06C6B-E4AC-177E-8BDE-BFC622297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927" y="5837229"/>
                <a:ext cx="10202139" cy="8306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4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结果分析</a:t>
                </a:r>
                <a:r>
                  <a:rPr kumimoji="0" lang="zh-CN" altLang="zh-CN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：</a:t>
                </a:r>
                <a:r>
                  <a:rPr lang="zh-CN" altLang="en-US" sz="2400" dirty="0">
                    <a:latin typeface="Arial" panose="020B0604020202020204" pitchFamily="34" charset="0"/>
                  </a:rPr>
                  <a:t>这依然是线性函数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</a:rPr>
                  <a:t>，但法向量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</a:rPr>
                  <a:t>受到了协方差矩阵的偏转影响。</a:t>
                </a:r>
                <a:endParaRPr kumimoji="0" lang="zh-CN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3F06C6B-E4AC-177E-8BDE-BFC622297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4927" y="5837229"/>
                <a:ext cx="10202139" cy="830677"/>
              </a:xfrm>
              <a:prstGeom prst="rect">
                <a:avLst/>
              </a:prstGeom>
              <a:blipFill>
                <a:blip r:embed="rId3"/>
                <a:stretch>
                  <a:fillRect l="-896" t="-8824" r="-657" b="-169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30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8BEAD35-CCF1-4AE9-A8F7-A17F28D16F3A}"/>
              </a:ext>
            </a:extLst>
          </p:cNvPr>
          <p:cNvSpPr/>
          <p:nvPr/>
        </p:nvSpPr>
        <p:spPr>
          <a:xfrm>
            <a:off x="983698" y="2731056"/>
            <a:ext cx="68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40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请各位老师批评指正！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9812351-1D8B-4096-B067-C1161FBF2107}"/>
              </a:ext>
            </a:extLst>
          </p:cNvPr>
          <p:cNvSpPr/>
          <p:nvPr/>
        </p:nvSpPr>
        <p:spPr>
          <a:xfrm rot="18932100">
            <a:off x="6751304" y="-3090723"/>
            <a:ext cx="5051305" cy="5051305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E98E0E8-560D-4C7C-B4C7-601F790AC01C}"/>
              </a:ext>
            </a:extLst>
          </p:cNvPr>
          <p:cNvSpPr/>
          <p:nvPr/>
        </p:nvSpPr>
        <p:spPr>
          <a:xfrm rot="18958199">
            <a:off x="10979399" y="4155207"/>
            <a:ext cx="2416461" cy="241646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A0532D0-C157-4B54-A4F4-C7746F4FEED9}"/>
              </a:ext>
            </a:extLst>
          </p:cNvPr>
          <p:cNvSpPr/>
          <p:nvPr/>
        </p:nvSpPr>
        <p:spPr>
          <a:xfrm rot="18958199">
            <a:off x="9596217" y="3086976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DCDC5953-4481-488D-B130-6C383D6F3DB9}"/>
              </a:ext>
            </a:extLst>
          </p:cNvPr>
          <p:cNvSpPr/>
          <p:nvPr/>
        </p:nvSpPr>
        <p:spPr>
          <a:xfrm rot="18958199">
            <a:off x="10844604" y="226155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91E0EB6-FC66-4DB0-A4E7-52899D503FAD}"/>
              </a:ext>
            </a:extLst>
          </p:cNvPr>
          <p:cNvSpPr/>
          <p:nvPr/>
        </p:nvSpPr>
        <p:spPr>
          <a:xfrm rot="18932100">
            <a:off x="187085" y="5171349"/>
            <a:ext cx="5748920" cy="5748920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99ED593-7DE7-41AB-83AB-C67C840702B5}"/>
              </a:ext>
            </a:extLst>
          </p:cNvPr>
          <p:cNvSpPr/>
          <p:nvPr/>
        </p:nvSpPr>
        <p:spPr>
          <a:xfrm rot="18958199">
            <a:off x="6646784" y="4697134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E9A17F5-5639-42CA-8230-4924A1FC5289}"/>
              </a:ext>
            </a:extLst>
          </p:cNvPr>
          <p:cNvSpPr/>
          <p:nvPr/>
        </p:nvSpPr>
        <p:spPr>
          <a:xfrm rot="18958199">
            <a:off x="9043563" y="507629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831" y="1085793"/>
            <a:ext cx="1442920" cy="143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68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2" presetClass="entr" presetSubtype="3" fill="hold" grpId="0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24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25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28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29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毕业论文开题报告模板2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0C0"/>
      </a:accent1>
      <a:accent2>
        <a:srgbClr val="7F7F7F"/>
      </a:accent2>
      <a:accent3>
        <a:srgbClr val="0070C0"/>
      </a:accent3>
      <a:accent4>
        <a:srgbClr val="7F7F7F"/>
      </a:accent4>
      <a:accent5>
        <a:srgbClr val="0070C0"/>
      </a:accent5>
      <a:accent6>
        <a:srgbClr val="7F7F7F"/>
      </a:accent6>
      <a:hlink>
        <a:srgbClr val="0070C0"/>
      </a:hlink>
      <a:folHlink>
        <a:srgbClr val="7F7F7F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7F7F7F"/>
    </a:accent2>
    <a:accent3>
      <a:srgbClr val="0070C0"/>
    </a:accent3>
    <a:accent4>
      <a:srgbClr val="7F7F7F"/>
    </a:accent4>
    <a:accent5>
      <a:srgbClr val="0070C0"/>
    </a:accent5>
    <a:accent6>
      <a:srgbClr val="7F7F7F"/>
    </a:accent6>
    <a:hlink>
      <a:srgbClr val="0070C0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7F7F7F"/>
    </a:accent2>
    <a:accent3>
      <a:srgbClr val="0070C0"/>
    </a:accent3>
    <a:accent4>
      <a:srgbClr val="7F7F7F"/>
    </a:accent4>
    <a:accent5>
      <a:srgbClr val="0070C0"/>
    </a:accent5>
    <a:accent6>
      <a:srgbClr val="7F7F7F"/>
    </a:accent6>
    <a:hlink>
      <a:srgbClr val="0070C0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433</Words>
  <Application>Microsoft Office PowerPoint</Application>
  <PresentationFormat>宽屏</PresentationFormat>
  <Paragraphs>50</Paragraphs>
  <Slides>10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微软雅黑</vt:lpstr>
      <vt:lpstr>Arial</vt:lpstr>
      <vt:lpstr>Calibri</vt:lpstr>
      <vt:lpstr>Cambria Math</vt:lpstr>
      <vt:lpstr>第一PPT，www.1ppt.com</vt:lpstr>
      <vt:lpstr>Equation</vt:lpstr>
      <vt:lpstr>PowerPoint 演示文稿</vt:lpstr>
      <vt:lpstr>PowerPoint 演示文稿</vt:lpstr>
      <vt:lpstr>PowerPoint 演示文稿</vt:lpstr>
      <vt:lpstr>PowerPoint 演示文稿</vt:lpstr>
      <vt:lpstr>任务1：设计两类二维正态分布样本，决策面为线性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毕业论文开题报告模板2</dc:title>
  <dc:creator>Anzichen</dc:creator>
  <cp:lastModifiedBy>超然 刘</cp:lastModifiedBy>
  <cp:revision>37</cp:revision>
  <dcterms:created xsi:type="dcterms:W3CDTF">2018-11-20T08:27:44Z</dcterms:created>
  <dcterms:modified xsi:type="dcterms:W3CDTF">2026-03-20T16:45:51Z</dcterms:modified>
</cp:coreProperties>
</file>
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84" r:id="rId2"/>
    <p:sldId id="387" r:id="rId3"/>
    <p:sldId id="391" r:id="rId4"/>
    <p:sldId id="385" r:id="rId5"/>
    <p:sldId id="392" r:id="rId6"/>
    <p:sldId id="394" r:id="rId7"/>
    <p:sldId id="390" r:id="rId8"/>
    <p:sldId id="389" r:id="rId9"/>
    <p:sldId id="386" r:id="rId10"/>
    <p:sldId id="393" r:id="rId11"/>
    <p:sldId id="388" r:id="rId12"/>
    <p:sldId id="395" r:id="rId13"/>
  </p:sldIdLst>
  <p:sldSz cx="9144000" cy="6858000" type="screen4x3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266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7" d="100"/>
          <a:sy n="77" d="100"/>
        </p:scale>
        <p:origin x="68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1E1F-602C-4D28-88A4-9D6125A3C42B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3463B-C3F2-4969-A8E4-4B9940102D7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3463B-C3F2-4969-A8E4-4B9940102D7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86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D5EC2-2A4B-376C-B246-398E243BC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672823-D6A8-C291-2EA7-C955BAEC8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A45608-6BB7-23CD-CEB7-F46472448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BEAE9C-CD13-E134-1D28-4407DCA4F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3463B-C3F2-4969-A8E4-4B9940102D7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00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D8E3A-1BB5-A21A-17E2-367D7AA25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62059A-5192-D680-C1E5-B75873F1B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A5272A-0601-53F1-55E7-CF745AF37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7C35C5-9604-9512-C9F0-027685C00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3463B-C3F2-4969-A8E4-4B9940102D7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051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21190" y="279573"/>
            <a:ext cx="7488832" cy="1371600"/>
          </a:xfrm>
        </p:spPr>
        <p:txBody>
          <a:bodyPr/>
          <a:lstStyle/>
          <a:p>
            <a:r>
              <a:rPr lang="zh-CN" altLang="en-US" dirty="0"/>
              <a:t>大作业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zh-CN" altLang="en-US" dirty="0"/>
              <a:t>二维正态分布贝叶斯决策面可视化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79512" y="2204864"/>
            <a:ext cx="9299376" cy="4373563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：设计两类二维正态分布样本，决策面为</a:t>
            </a:r>
            <a:r>
              <a:rPr lang="zh-CN" altLang="en-US" dirty="0">
                <a:solidFill>
                  <a:srgbClr val="FF0000"/>
                </a:solidFill>
              </a:rPr>
              <a:t>线性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：设计两类二维正态分布样本，决策面为</a:t>
            </a:r>
            <a:r>
              <a:rPr lang="zh-CN" altLang="en-US" dirty="0">
                <a:solidFill>
                  <a:srgbClr val="FF0000"/>
                </a:solidFill>
              </a:rPr>
              <a:t>非线性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任务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必做题，任务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加分题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自行组队：</a:t>
            </a:r>
            <a:r>
              <a:rPr lang="en-US" altLang="zh-CN" dirty="0"/>
              <a:t>2-3</a:t>
            </a:r>
            <a:r>
              <a:rPr lang="zh-CN" altLang="en-US" dirty="0"/>
              <a:t>人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时间节点：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月</a:t>
            </a:r>
            <a:r>
              <a:rPr lang="en-US" altLang="zh-CN" dirty="0">
                <a:solidFill>
                  <a:srgbClr val="FF0000"/>
                </a:solidFill>
              </a:rPr>
              <a:t>22</a:t>
            </a:r>
            <a:r>
              <a:rPr lang="zh-CN" altLang="en-US" dirty="0">
                <a:solidFill>
                  <a:srgbClr val="FF0000"/>
                </a:solidFill>
              </a:rPr>
              <a:t>日</a:t>
            </a:r>
            <a:r>
              <a:rPr lang="en-US" altLang="zh-CN" dirty="0">
                <a:solidFill>
                  <a:srgbClr val="FF0000"/>
                </a:solidFill>
              </a:rPr>
              <a:t>24:00</a:t>
            </a:r>
            <a:r>
              <a:rPr lang="zh-CN" altLang="en-US" dirty="0">
                <a:solidFill>
                  <a:srgbClr val="FF0000"/>
                </a:solidFill>
              </a:rPr>
              <a:t>前  </a:t>
            </a:r>
            <a:r>
              <a:rPr lang="zh-CN" altLang="en-US" dirty="0"/>
              <a:t>过时不候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提交内容：</a:t>
            </a:r>
            <a:r>
              <a:rPr lang="zh-CN" altLang="en-US" u="sng" dirty="0"/>
              <a:t>程序内容以及方案和结果</a:t>
            </a:r>
            <a:r>
              <a:rPr lang="en-US" altLang="zh-CN" u="sng" dirty="0"/>
              <a:t>(</a:t>
            </a:r>
            <a:r>
              <a:rPr lang="zh-CN" altLang="en-US" u="sng" dirty="0"/>
              <a:t>用</a:t>
            </a:r>
            <a:r>
              <a:rPr lang="en-US" altLang="zh-CN" u="sng" dirty="0" err="1"/>
              <a:t>ppt</a:t>
            </a:r>
            <a:r>
              <a:rPr lang="zh-CN" altLang="en-US" u="sng" dirty="0"/>
              <a:t>的形式</a:t>
            </a:r>
            <a:r>
              <a:rPr lang="en-US" altLang="zh-CN" u="sng" dirty="0"/>
              <a:t>)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提交方式：</a:t>
            </a:r>
            <a:r>
              <a:rPr lang="zh-CN" altLang="en-US" dirty="0">
                <a:solidFill>
                  <a:srgbClr val="FF0000"/>
                </a:solidFill>
              </a:rPr>
              <a:t>打包文件夹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姓名来命名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发送到</a:t>
            </a:r>
            <a:r>
              <a:rPr lang="en-US" altLang="zh-CN" dirty="0"/>
              <a:t>2269025044@qq.com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选出</a:t>
            </a:r>
            <a:r>
              <a:rPr lang="en-US" altLang="zh-CN" dirty="0"/>
              <a:t>2-3</a:t>
            </a:r>
            <a:r>
              <a:rPr lang="zh-CN" altLang="en-US" dirty="0"/>
              <a:t>组做的比较好的同学在后续课堂上做</a:t>
            </a:r>
            <a:r>
              <a:rPr lang="en-US" altLang="zh-CN" dirty="0"/>
              <a:t>presentation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364" y="4804"/>
            <a:ext cx="1635662" cy="22523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DC90EE56-F789-46EE-95C6-87D788C8C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476672"/>
            <a:ext cx="6906589" cy="23053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A5FEEBF-2220-88B5-49E8-B31FC2511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99" y="2791493"/>
            <a:ext cx="7887801" cy="226726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AC194D5-B028-1708-A9D9-495EA7587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5058759"/>
            <a:ext cx="6420746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68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A3494-4516-1704-9B0A-2568AA9D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15DD904-2E1D-4E80-5F9C-6448ABC4D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476672"/>
            <a:ext cx="8211696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46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23528" y="-243408"/>
            <a:ext cx="8551296" cy="137160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任务</a:t>
            </a:r>
            <a:r>
              <a:rPr lang="en-US" altLang="zh-CN" sz="2800" dirty="0"/>
              <a:t>1</a:t>
            </a:r>
            <a:r>
              <a:rPr lang="zh-CN" altLang="en-US" sz="2800" dirty="0"/>
              <a:t>：设计两类二维正态分布样本，决策面为</a:t>
            </a:r>
            <a:r>
              <a:rPr lang="zh-CN" altLang="en-US" sz="2800" dirty="0">
                <a:solidFill>
                  <a:srgbClr val="00B050"/>
                </a:solidFill>
              </a:rPr>
              <a:t>线性</a:t>
            </a:r>
            <a:endParaRPr lang="en-US" altLang="zh-CN" sz="2800" dirty="0">
              <a:solidFill>
                <a:srgbClr val="00B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528" y="1700808"/>
            <a:ext cx="8529241" cy="389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B050"/>
                </a:solidFill>
              </a:rPr>
              <a:t>已知</a:t>
            </a:r>
            <a:r>
              <a:rPr lang="zh-CN" altLang="en-US" sz="2400" dirty="0"/>
              <a:t>：来自于两类的随机数样本，等先验概率，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 </a:t>
            </a:r>
            <a:r>
              <a:rPr lang="zh-CN" altLang="en-US" sz="2400" dirty="0"/>
              <a:t>分别满足二维正态分布，协方差分别满足下列两种情况：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B050"/>
                </a:solidFill>
              </a:rPr>
              <a:t>要求</a:t>
            </a:r>
            <a:r>
              <a:rPr lang="zh-CN" altLang="en-US" sz="2400" dirty="0"/>
              <a:t>：针对上述两种情况，分别画出样本集</a:t>
            </a:r>
            <a:r>
              <a:rPr lang="en-US" altLang="zh-CN" sz="2400" dirty="0"/>
              <a:t>(</a:t>
            </a:r>
            <a:r>
              <a:rPr lang="zh-CN" altLang="en-US" sz="2400" dirty="0"/>
              <a:t>注意区分</a:t>
            </a:r>
            <a:r>
              <a:rPr lang="en-US" altLang="zh-CN" sz="2400" dirty="0"/>
              <a:t>)</a:t>
            </a:r>
            <a:r>
              <a:rPr lang="zh-CN" altLang="en-US" sz="2400" dirty="0"/>
              <a:t>、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 </a:t>
            </a:r>
            <a:r>
              <a:rPr lang="zh-CN" altLang="en-US" sz="2400" dirty="0"/>
              <a:t>等密度点轨迹以及分类面</a:t>
            </a:r>
            <a:endParaRPr lang="en-US" altLang="zh-CN" sz="24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852713" y="3202596"/>
          <a:ext cx="1628802" cy="658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25600" imgH="5791200" progId="Equation.DSMT4">
                  <p:embed/>
                </p:oleObj>
              </mc:Choice>
              <mc:Fallback>
                <p:oleObj name="Equation" r:id="rId2" imgW="14325600" imgH="5791200" progId="Equation.DSMT4">
                  <p:embed/>
                  <p:pic>
                    <p:nvPicPr>
                      <p:cNvPr id="0" name="对象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52713" y="3202596"/>
                        <a:ext cx="1628802" cy="6584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163071" y="3215863"/>
          <a:ext cx="1258788" cy="645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8000" imgH="5486400" progId="Equation.DSMT4">
                  <p:embed/>
                </p:oleObj>
              </mc:Choice>
              <mc:Fallback>
                <p:oleObj name="Equation" r:id="rId4" imgW="10668000" imgH="5486400" progId="Equation.DSMT4">
                  <p:embed/>
                  <p:pic>
                    <p:nvPicPr>
                      <p:cNvPr id="0" name="对象 1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63071" y="3215863"/>
                        <a:ext cx="1258788" cy="645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00E52EE-0FF3-4A97-73C4-119D45C05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688012" cy="355332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1A55C5F-4555-2CFC-9736-B77C1ACAA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53321"/>
            <a:ext cx="8869013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5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C5CCE-AF68-1B49-2FA2-5F883D60F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4A8C302-FC01-A1C1-ACBD-BD47E619EA0F}"/>
              </a:ext>
            </a:extLst>
          </p:cNvPr>
          <p:cNvSpPr txBox="1"/>
          <p:nvPr/>
        </p:nvSpPr>
        <p:spPr>
          <a:xfrm>
            <a:off x="827584" y="260648"/>
            <a:ext cx="61926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# mu: </a:t>
            </a:r>
            <a:r>
              <a:rPr lang="zh-CN" altLang="en-US" dirty="0"/>
              <a:t>均值向量 </a:t>
            </a:r>
            <a:r>
              <a:rPr lang="en-US" altLang="zh-CN" dirty="0"/>
              <a:t>(1x2 </a:t>
            </a:r>
            <a:r>
              <a:rPr lang="zh-CN" altLang="en-US" dirty="0"/>
              <a:t>维</a:t>
            </a:r>
            <a:r>
              <a:rPr lang="en-US" altLang="zh-CN" dirty="0"/>
              <a:t>) </a:t>
            </a:r>
          </a:p>
          <a:p>
            <a:r>
              <a:rPr lang="en-US" altLang="zh-CN" dirty="0"/>
              <a:t># </a:t>
            </a:r>
            <a:r>
              <a:rPr lang="en-US" altLang="zh-CN" dirty="0" err="1"/>
              <a:t>cov</a:t>
            </a:r>
            <a:r>
              <a:rPr lang="en-US" altLang="zh-CN" dirty="0"/>
              <a:t>: </a:t>
            </a:r>
            <a:r>
              <a:rPr lang="zh-CN" altLang="en-US" dirty="0"/>
              <a:t>协方差矩阵 </a:t>
            </a:r>
            <a:r>
              <a:rPr lang="en-US" altLang="zh-CN" dirty="0"/>
              <a:t>(2x2 </a:t>
            </a:r>
            <a:r>
              <a:rPr lang="zh-CN" altLang="en-US" dirty="0"/>
              <a:t>维</a:t>
            </a:r>
            <a:r>
              <a:rPr lang="en-US" altLang="zh-CN" dirty="0"/>
              <a:t>) </a:t>
            </a:r>
          </a:p>
          <a:p>
            <a:r>
              <a:rPr lang="en-US" altLang="zh-CN" dirty="0"/>
              <a:t># N: </a:t>
            </a:r>
            <a:r>
              <a:rPr lang="zh-CN" altLang="en-US" dirty="0"/>
              <a:t>样本数量 </a:t>
            </a:r>
            <a:r>
              <a:rPr lang="en-US" altLang="zh-CN" dirty="0"/>
              <a:t>(</a:t>
            </a:r>
            <a:r>
              <a:rPr lang="zh-CN" altLang="en-US" dirty="0"/>
              <a:t>标量，如 </a:t>
            </a:r>
            <a:r>
              <a:rPr lang="en-US" altLang="zh-CN" dirty="0"/>
              <a:t>200) </a:t>
            </a:r>
          </a:p>
          <a:p>
            <a:r>
              <a:rPr lang="en-US" altLang="zh-CN" dirty="0"/>
              <a:t>X = </a:t>
            </a:r>
            <a:r>
              <a:rPr lang="en-US" altLang="zh-CN" dirty="0" err="1"/>
              <a:t>np.random.multivariate_normal</a:t>
            </a:r>
            <a:r>
              <a:rPr lang="en-US" altLang="zh-CN" dirty="0"/>
              <a:t>(mu, </a:t>
            </a:r>
            <a:r>
              <a:rPr lang="en-US" altLang="zh-CN" dirty="0" err="1"/>
              <a:t>cov</a:t>
            </a:r>
            <a:r>
              <a:rPr lang="en-US" altLang="zh-CN" dirty="0"/>
              <a:t>, N)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437AB70-4226-C46A-40B4-108A40B1A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1" y="1772816"/>
            <a:ext cx="6599780" cy="453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307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01027-D1F8-D5F4-DBB6-B5A36C7C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E0A133B-EB2E-ED40-90A4-F6B9AB7AA9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837" y="731514"/>
            <a:ext cx="6306325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6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47DD0-6070-20B2-5C52-11996C026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84D657-0751-933E-D30B-16DFD7789D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837" y="731514"/>
            <a:ext cx="6306325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442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323528" y="1111160"/>
            <a:ext cx="8551296" cy="1371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/>
              <a:t>任务</a:t>
            </a:r>
            <a:r>
              <a:rPr lang="en-US" altLang="zh-CN" sz="2800" dirty="0"/>
              <a:t>2</a:t>
            </a:r>
            <a:r>
              <a:rPr lang="zh-CN" altLang="en-US" sz="2800" dirty="0"/>
              <a:t>：设计两类二维正态分布样本，决策面为</a:t>
            </a:r>
            <a:r>
              <a:rPr lang="zh-CN" altLang="en-US" sz="2800" dirty="0">
                <a:solidFill>
                  <a:srgbClr val="00B050"/>
                </a:solidFill>
              </a:rPr>
              <a:t>非线性</a:t>
            </a:r>
            <a:endParaRPr lang="en-US" altLang="zh-CN" sz="2800" dirty="0">
              <a:solidFill>
                <a:srgbClr val="00B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528" y="2482760"/>
            <a:ext cx="85292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B050"/>
                </a:solidFill>
              </a:rPr>
              <a:t>已知</a:t>
            </a:r>
            <a:r>
              <a:rPr lang="zh-CN" altLang="en-US" sz="2400" dirty="0"/>
              <a:t>：来自于两类的随机数样本，等先验概率，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 </a:t>
            </a:r>
            <a:r>
              <a:rPr lang="zh-CN" altLang="en-US" sz="2400" dirty="0"/>
              <a:t>分别满足二维正态分布，两类协方差不相等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B050"/>
                </a:solidFill>
              </a:rPr>
              <a:t>要求</a:t>
            </a:r>
            <a:r>
              <a:rPr lang="zh-CN" altLang="en-US" sz="2400" dirty="0"/>
              <a:t>：画出样本集</a:t>
            </a:r>
            <a:r>
              <a:rPr lang="en-US" altLang="zh-CN" sz="2400" dirty="0"/>
              <a:t>(</a:t>
            </a:r>
            <a:r>
              <a:rPr lang="zh-CN" altLang="en-US" sz="2400" dirty="0"/>
              <a:t>注意区分</a:t>
            </a:r>
            <a:r>
              <a:rPr lang="en-US" altLang="zh-CN" sz="2400" dirty="0"/>
              <a:t>)</a:t>
            </a:r>
            <a:r>
              <a:rPr lang="zh-CN" altLang="en-US" sz="2400" dirty="0"/>
              <a:t>、等密度点轨迹以及分类面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662B6-02F7-F687-2D9C-EC6DCBC17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82D7B7D-C6F1-7AF9-18FD-64AC991A6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94" y="785443"/>
            <a:ext cx="8326012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87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4C965-40DE-2594-55BF-903A5D4D4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48573B-CEA0-EBD3-D0E4-E6D2D2BED4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837" y="731514"/>
            <a:ext cx="6306325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006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E2F21-D910-E858-9374-4851DB1F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3877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Y2NzkxOGJjNGFkNzFiZWJmMTE5NTMyNGI3ZDNjZG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48</TotalTime>
  <Words>288</Words>
  <Application>Microsoft Office PowerPoint</Application>
  <PresentationFormat>全屏显示(4:3)</PresentationFormat>
  <Paragraphs>29</Paragraphs>
  <Slides>12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基本</vt:lpstr>
      <vt:lpstr>Equation</vt:lpstr>
      <vt:lpstr>大作业1： 二维正态分布贝叶斯决策面可视化</vt:lpstr>
      <vt:lpstr>PowerPoint 演示文稿</vt:lpstr>
      <vt:lpstr>PowerPoint 演示文稿</vt:lpstr>
      <vt:lpstr>任务1：设计两类二维正态分布样本，决策面为线性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峻硕 田</cp:lastModifiedBy>
  <cp:revision>705</cp:revision>
  <dcterms:created xsi:type="dcterms:W3CDTF">2014-08-25T02:16:00Z</dcterms:created>
  <dcterms:modified xsi:type="dcterms:W3CDTF">2026-03-20T11:58:57Z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4079B66FD6924375874C9B38D346BB56_12</vt:lpwstr>
  </property>
  <property fmtid="{D5CDD505-2E9C-101B-9397-08002B2CF9AE}" pid="3" name="KSOProductBuildVer">
    <vt:lpwstr>2052-12.1.0.25225</vt:lpwstr>
  </property>
</Properties>
</file>